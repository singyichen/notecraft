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7" r:id="rId3"/>
    <p:sldId id="257" r:id="rId4"/>
    <p:sldId id="258" r:id="rId5"/>
    <p:sldId id="268" r:id="rId6"/>
    <p:sldId id="259" r:id="rId7"/>
    <p:sldId id="261" r:id="rId8"/>
    <p:sldId id="262" r:id="rId9"/>
    <p:sldId id="263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6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524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FD8D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論文研討・自我介紹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79276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BFBF8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陳欣怡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5260"/>
            <a:ext cx="1088339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BFD8D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Sing-Yi Chen・AI-native 後端工程師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4175440"/>
            <a:ext cx="5445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國立陽明交通大學 </a:t>
            </a:r>
            <a:r>
              <a:rPr lang="en-US" sz="1200" dirty="0" err="1">
                <a:solidFill>
                  <a:srgbClr val="BFD8D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應用科技碩士在職專班・課程教師</a:t>
            </a:r>
            <a:r>
              <a:rPr lang="en-US" sz="1200" dirty="0">
                <a:solidFill>
                  <a:srgbClr val="BFD8D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</a:t>
            </a:r>
            <a:r>
              <a:rPr lang="en-US" sz="1200" dirty="0" err="1">
                <a:solidFill>
                  <a:srgbClr val="BFD8D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蘇冠暐教授</a:t>
            </a:r>
            <a:endParaRPr lang="en-US" sz="1200" dirty="0"/>
          </a:p>
        </p:txBody>
      </p:sp>
      <p:sp>
        <p:nvSpPr>
          <p:cNvPr id="71" name="GitHubCard"/>
          <p:cNvSpPr/>
          <p:nvPr/>
        </p:nvSpPr>
        <p:spPr>
          <a:xfrm>
            <a:off x="7000000" y="1320686"/>
            <a:ext cx="4379000" cy="4216628"/>
          </a:xfrm>
          <a:prstGeom prst="roundRect">
            <a:avLst>
              <a:gd name="adj" fmla="val 5000"/>
            </a:avLst>
          </a:prstGeom>
          <a:solidFill>
            <a:srgbClr val="243C63"/>
          </a:solidFill>
          <a:ln w="9525">
            <a:solidFill>
              <a:srgbClr val="4A6894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72" name="Avatar"/>
          <p:cNvPicPr/>
          <p:nvPr/>
        </p:nvPicPr>
        <p:blipFill>
          <a:blip r:embed="rId3"/>
          <a:stretch>
            <a:fillRect/>
          </a:stretch>
        </p:blipFill>
        <p:spPr>
          <a:xfrm>
            <a:off x="7314674" y="1635360"/>
            <a:ext cx="1132826" cy="1132826"/>
          </a:xfrm>
          <a:prstGeom prst="rect">
            <a:avLst/>
          </a:prstGeom>
        </p:spPr>
      </p:pic>
      <p:pic>
        <p:nvPicPr>
          <p:cNvPr id="73" name="GitHubMark"/>
          <p:cNvPicPr/>
          <p:nvPr/>
        </p:nvPicPr>
        <p:blipFill>
          <a:blip r:embed="rId4"/>
          <a:stretch>
            <a:fillRect/>
          </a:stretch>
        </p:blipFill>
        <p:spPr>
          <a:xfrm>
            <a:off x="8674064" y="1710881"/>
            <a:ext cx="327261" cy="327261"/>
          </a:xfrm>
          <a:prstGeom prst="rect">
            <a:avLst/>
          </a:prstGeom>
        </p:spPr>
      </p:pic>
      <p:sp>
        <p:nvSpPr>
          <p:cNvPr id="74" name="Handle"/>
          <p:cNvSpPr txBox="1"/>
          <p:nvPr/>
        </p:nvSpPr>
        <p:spPr>
          <a:xfrm>
            <a:off x="9114608" y="1685708"/>
            <a:ext cx="1949719" cy="377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66"/>
              </a:lnSpc>
              <a:buNone/>
            </a:pPr>
            <a:r>
              <a:rPr lang="en-US" sz="1762" b="1" dirty="0">
                <a:solidFill>
                  <a:srgbClr val="FBFBF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singyichen</a:t>
            </a:r>
            <a:endParaRPr lang="zh-TW" dirty="0"/>
          </a:p>
        </p:txBody>
      </p:sp>
      <p:sp>
        <p:nvSpPr>
          <p:cNvPr id="75" name="Link"/>
          <p:cNvSpPr txBox="1"/>
          <p:nvPr/>
        </p:nvSpPr>
        <p:spPr>
          <a:xfrm>
            <a:off x="8674064" y="2138838"/>
            <a:ext cx="2390262" cy="528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36"/>
              </a:lnSpc>
              <a:buNone/>
            </a:pPr>
            <a:r>
              <a:rPr lang="en-US" sz="1133" dirty="0">
                <a:solidFill>
                  <a:srgbClr val="BFD8D5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github.com/singyichen</a:t>
            </a:r>
            <a:endParaRPr lang="zh-TW" dirty="0"/>
          </a:p>
          <a:p>
            <a:pPr marL="0" indent="0" algn="l">
              <a:lnSpc>
                <a:spcPts val="1888"/>
              </a:lnSpc>
              <a:spcBef>
                <a:spcPts val="252"/>
              </a:spcBef>
              <a:buNone/>
            </a:pPr>
            <a:r>
              <a:rPr lang="zh-TW" sz="1385" b="1" dirty="0">
                <a:solidFill>
                  <a:srgbClr val="FBFBF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Ｍandy</a:t>
            </a:r>
            <a:endParaRPr lang="zh-TW" dirty="0"/>
          </a:p>
        </p:txBody>
      </p:sp>
      <p:sp>
        <p:nvSpPr>
          <p:cNvPr id="76" name="Bio"/>
          <p:cNvSpPr txBox="1"/>
          <p:nvPr/>
        </p:nvSpPr>
        <p:spPr>
          <a:xfrm>
            <a:off x="7314674" y="3045098"/>
            <a:ext cx="3749652" cy="654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40"/>
              </a:lnSpc>
              <a:buNone/>
            </a:pPr>
            <a:r>
              <a:rPr lang="en-US" sz="1510" b="1" dirty="0">
                <a:solidFill>
                  <a:srgbClr val="FBFBF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Backend Developer</a:t>
            </a:r>
            <a:r>
              <a:rPr lang="en-US" sz="1385" dirty="0">
                <a:solidFill>
                  <a:srgbClr val="BFD8D5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  |  </a:t>
            </a:r>
            <a:r>
              <a:rPr lang="en-US" sz="1510" b="1" dirty="0">
                <a:solidFill>
                  <a:srgbClr val="FBFBF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AI-native Backend Engineer</a:t>
            </a:r>
            <a:endParaRPr lang="zh-TW" dirty="0"/>
          </a:p>
        </p:txBody>
      </p:sp>
      <p:sp>
        <p:nvSpPr>
          <p:cNvPr id="77" name="Meta"/>
          <p:cNvSpPr txBox="1"/>
          <p:nvPr/>
        </p:nvSpPr>
        <p:spPr>
          <a:xfrm>
            <a:off x="7314674" y="3749967"/>
            <a:ext cx="3749652" cy="327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62"/>
              </a:lnSpc>
              <a:buNone/>
            </a:pPr>
            <a:r>
              <a:rPr lang="zh-TW" sz="1259" dirty="0">
                <a:solidFill>
                  <a:srgbClr val="BFD8D5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@Trendlink 聯和趨動 · Kaohsiung, Taiwan</a:t>
            </a:r>
            <a:endParaRPr lang="zh-TW" dirty="0"/>
          </a:p>
        </p:txBody>
      </p:sp>
      <p:sp>
        <p:nvSpPr>
          <p:cNvPr id="78" name="Divider"/>
          <p:cNvSpPr/>
          <p:nvPr/>
        </p:nvSpPr>
        <p:spPr>
          <a:xfrm>
            <a:off x="7314674" y="4177924"/>
            <a:ext cx="3749652" cy="0"/>
          </a:xfrm>
          <a:prstGeom prst="line">
            <a:avLst/>
          </a:prstGeom>
          <a:noFill/>
          <a:ln w="12700">
            <a:solidFill>
              <a:srgbClr val="4A689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9" name="Stat0"/>
          <p:cNvSpPr txBox="1"/>
          <p:nvPr/>
        </p:nvSpPr>
        <p:spPr>
          <a:xfrm>
            <a:off x="7314674" y="4303793"/>
            <a:ext cx="1249884" cy="704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21"/>
              </a:lnSpc>
              <a:buNone/>
            </a:pPr>
            <a:r>
              <a:rPr lang="en-US" sz="2517" b="1" dirty="0">
                <a:solidFill>
                  <a:srgbClr val="FBFBF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126</a:t>
            </a:r>
            <a:endParaRPr lang="zh-TW" dirty="0"/>
          </a:p>
          <a:p>
            <a:pPr marL="0" indent="0" algn="ctr">
              <a:lnSpc>
                <a:spcPts val="1636"/>
              </a:lnSpc>
              <a:spcBef>
                <a:spcPts val="126"/>
              </a:spcBef>
              <a:buNone/>
            </a:pPr>
            <a:r>
              <a:rPr lang="en-US" sz="1133" spc="100" dirty="0">
                <a:solidFill>
                  <a:srgbClr val="BFD8D5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Repos</a:t>
            </a:r>
            <a:endParaRPr lang="zh-TW" dirty="0"/>
          </a:p>
        </p:txBody>
      </p:sp>
      <p:sp>
        <p:nvSpPr>
          <p:cNvPr id="80" name="Stat1"/>
          <p:cNvSpPr txBox="1"/>
          <p:nvPr/>
        </p:nvSpPr>
        <p:spPr>
          <a:xfrm>
            <a:off x="8564558" y="4303793"/>
            <a:ext cx="1249884" cy="704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21"/>
              </a:lnSpc>
              <a:buNone/>
            </a:pPr>
            <a:r>
              <a:rPr lang="en-US" sz="2517" b="1" dirty="0">
                <a:solidFill>
                  <a:srgbClr val="FBFBF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437</a:t>
            </a:r>
            <a:endParaRPr lang="zh-TW" dirty="0"/>
          </a:p>
          <a:p>
            <a:pPr marL="0" indent="0" algn="ctr">
              <a:lnSpc>
                <a:spcPts val="1636"/>
              </a:lnSpc>
              <a:spcBef>
                <a:spcPts val="126"/>
              </a:spcBef>
              <a:buNone/>
            </a:pPr>
            <a:r>
              <a:rPr lang="en-US" sz="1133" spc="100" dirty="0">
                <a:solidFill>
                  <a:srgbClr val="BFD8D5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Followers</a:t>
            </a:r>
            <a:endParaRPr lang="zh-TW" dirty="0"/>
          </a:p>
        </p:txBody>
      </p:sp>
      <p:sp>
        <p:nvSpPr>
          <p:cNvPr id="81" name="Stat2"/>
          <p:cNvSpPr txBox="1"/>
          <p:nvPr/>
        </p:nvSpPr>
        <p:spPr>
          <a:xfrm>
            <a:off x="9814442" y="4303793"/>
            <a:ext cx="1249884" cy="704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21"/>
              </a:lnSpc>
              <a:buNone/>
            </a:pPr>
            <a:r>
              <a:rPr lang="en-US" sz="2517" b="1" dirty="0">
                <a:solidFill>
                  <a:srgbClr val="FBFBF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2020</a:t>
            </a:r>
            <a:endParaRPr lang="zh-TW" dirty="0"/>
          </a:p>
          <a:p>
            <a:pPr marL="0" indent="0" algn="ctr">
              <a:lnSpc>
                <a:spcPts val="1636"/>
              </a:lnSpc>
              <a:spcBef>
                <a:spcPts val="126"/>
              </a:spcBef>
              <a:buNone/>
            </a:pPr>
            <a:r>
              <a:rPr lang="en-US" sz="1133" spc="100" dirty="0">
                <a:solidFill>
                  <a:srgbClr val="BFD8D5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Since</a:t>
            </a:r>
            <a:endParaRPr lang="zh-TW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900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我的地理路線</a:t>
            </a:r>
            <a:endParaRPr lang="en-US" sz="3600" dirty="0"/>
          </a:p>
        </p:txBody>
      </p:sp>
      <p:pic>
        <p:nvPicPr>
          <p:cNvPr id="3" name="Map"/>
          <p:cNvPicPr/>
          <p:nvPr/>
        </p:nvPicPr>
        <p:blipFill>
          <a:blip r:embed="rId2"/>
          <a:stretch>
            <a:fillRect/>
          </a:stretch>
        </p:blipFill>
        <p:spPr>
          <a:xfrm>
            <a:off x="4673600" y="1460500"/>
            <a:ext cx="2844800" cy="4064000"/>
          </a:xfrm>
          <a:prstGeom prst="rect">
            <a:avLst/>
          </a:prstGeom>
        </p:spPr>
      </p:pic>
      <p:sp>
        <p:nvSpPr>
          <p:cNvPr id="4" name="Box"/>
          <p:cNvSpPr/>
          <p:nvPr/>
        </p:nvSpPr>
        <p:spPr>
          <a:xfrm>
            <a:off x="6172835" y="1967865"/>
            <a:ext cx="330200" cy="330200"/>
          </a:xfrm>
          <a:prstGeom prst="roundRect">
            <a:avLst>
              <a:gd name="adj" fmla="val 16000"/>
            </a:avLst>
          </a:prstGeom>
          <a:noFill/>
          <a:ln w="19050">
            <a:solidFill>
              <a:srgbClr val="E873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Line"/>
          <p:cNvSpPr/>
          <p:nvPr/>
        </p:nvSpPr>
        <p:spPr>
          <a:xfrm>
            <a:off x="6503035" y="2123440"/>
            <a:ext cx="2069465" cy="1905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Name"/>
          <p:cNvSpPr/>
          <p:nvPr/>
        </p:nvSpPr>
        <p:spPr>
          <a:xfrm>
            <a:off x="8699500" y="1835785"/>
            <a:ext cx="254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台北</a:t>
            </a:r>
            <a:endParaRPr lang="en-US" sz="1800" dirty="0"/>
          </a:p>
        </p:txBody>
      </p:sp>
      <p:sp>
        <p:nvSpPr>
          <p:cNvPr id="7" name="Sub"/>
          <p:cNvSpPr/>
          <p:nvPr/>
        </p:nvSpPr>
        <p:spPr>
          <a:xfrm>
            <a:off x="8699500" y="2181225"/>
            <a:ext cx="2540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9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讀大學</a:t>
            </a:r>
            <a:endParaRPr lang="en-US" sz="1400" dirty="0"/>
          </a:p>
        </p:txBody>
      </p:sp>
      <p:sp>
        <p:nvSpPr>
          <p:cNvPr id="8" name="Box"/>
          <p:cNvSpPr/>
          <p:nvPr/>
        </p:nvSpPr>
        <p:spPr>
          <a:xfrm>
            <a:off x="5565140" y="2780665"/>
            <a:ext cx="330200" cy="330200"/>
          </a:xfrm>
          <a:prstGeom prst="roundRect">
            <a:avLst>
              <a:gd name="adj" fmla="val 16000"/>
            </a:avLst>
          </a:prstGeom>
          <a:noFill/>
          <a:ln w="19050">
            <a:solidFill>
              <a:srgbClr val="E873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Line"/>
          <p:cNvSpPr/>
          <p:nvPr/>
        </p:nvSpPr>
        <p:spPr>
          <a:xfrm>
            <a:off x="3556000" y="2936240"/>
            <a:ext cx="2009140" cy="1905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Name"/>
          <p:cNvSpPr/>
          <p:nvPr/>
        </p:nvSpPr>
        <p:spPr>
          <a:xfrm>
            <a:off x="889000" y="2648585"/>
            <a:ext cx="254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台中</a:t>
            </a:r>
            <a:endParaRPr lang="en-US" sz="1800" dirty="0"/>
          </a:p>
        </p:txBody>
      </p:sp>
      <p:sp>
        <p:nvSpPr>
          <p:cNvPr id="11" name="Sub"/>
          <p:cNvSpPr/>
          <p:nvPr/>
        </p:nvSpPr>
        <p:spPr>
          <a:xfrm>
            <a:off x="889000" y="2994025"/>
            <a:ext cx="2540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59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讀國高中</a:t>
            </a:r>
            <a:endParaRPr lang="en-US" sz="1400" dirty="0"/>
          </a:p>
        </p:txBody>
      </p:sp>
      <p:sp>
        <p:nvSpPr>
          <p:cNvPr id="12" name="Box"/>
          <p:cNvSpPr/>
          <p:nvPr/>
        </p:nvSpPr>
        <p:spPr>
          <a:xfrm>
            <a:off x="5681345" y="4330065"/>
            <a:ext cx="330200" cy="330200"/>
          </a:xfrm>
          <a:prstGeom prst="roundRect">
            <a:avLst>
              <a:gd name="adj" fmla="val 16000"/>
            </a:avLst>
          </a:prstGeom>
          <a:noFill/>
          <a:ln w="19050">
            <a:solidFill>
              <a:srgbClr val="E873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Line"/>
          <p:cNvSpPr/>
          <p:nvPr/>
        </p:nvSpPr>
        <p:spPr>
          <a:xfrm>
            <a:off x="6011545" y="4485640"/>
            <a:ext cx="2560955" cy="1905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Name"/>
          <p:cNvSpPr/>
          <p:nvPr/>
        </p:nvSpPr>
        <p:spPr>
          <a:xfrm>
            <a:off x="8699500" y="4197985"/>
            <a:ext cx="254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高雄</a:t>
            </a:r>
            <a:endParaRPr lang="en-US" sz="1800" dirty="0"/>
          </a:p>
        </p:txBody>
      </p:sp>
      <p:sp>
        <p:nvSpPr>
          <p:cNvPr id="15" name="Sub"/>
          <p:cNvSpPr/>
          <p:nvPr/>
        </p:nvSpPr>
        <p:spPr>
          <a:xfrm>
            <a:off x="8699500" y="4543425"/>
            <a:ext cx="2540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9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出生地・現在工作地</a:t>
            </a:r>
            <a:endParaRPr lang="en-US" sz="1400" dirty="0"/>
          </a:p>
        </p:txBody>
      </p:sp>
      <p:sp>
        <p:nvSpPr>
          <p:cNvPr id="16" name="Footer"/>
          <p:cNvSpPr/>
          <p:nvPr/>
        </p:nvSpPr>
        <p:spPr>
          <a:xfrm>
            <a:off x="812800" y="5760720"/>
            <a:ext cx="105664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79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走過台灣西半部，最後還是選擇回到最熟悉的高雄。</a:t>
            </a:r>
            <a:endParaRPr lang="en-US" sz="1700" dirty="0"/>
          </a:p>
        </p:txBody>
      </p:sp>
      <p:sp>
        <p:nvSpPr>
          <p:cNvPr id="88" name="Badge台北"/>
          <p:cNvSpPr/>
          <p:nvPr/>
        </p:nvSpPr>
        <p:spPr>
          <a:xfrm>
            <a:off x="6323035" y="1837865"/>
            <a:ext cx="260000" cy="260000"/>
          </a:xfrm>
          <a:prstGeom prst="roundRect">
            <a:avLst>
              <a:gd name="adj" fmla="val 50000"/>
            </a:avLst>
          </a:prstGeom>
          <a:solidFill>
            <a:srgbClr val="E8734A"/>
          </a:solidFill>
          <a:ln w="12700">
            <a:solidFill>
              <a:srgbClr val="FBFBF8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FBF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3</a:t>
            </a:r>
            <a:endParaRPr lang="zh-TW" dirty="0"/>
          </a:p>
        </p:txBody>
      </p:sp>
      <p:sp>
        <p:nvSpPr>
          <p:cNvPr id="89" name="Badge台中"/>
          <p:cNvSpPr/>
          <p:nvPr/>
        </p:nvSpPr>
        <p:spPr>
          <a:xfrm>
            <a:off x="5715340" y="2650665"/>
            <a:ext cx="260000" cy="260000"/>
          </a:xfrm>
          <a:prstGeom prst="roundRect">
            <a:avLst>
              <a:gd name="adj" fmla="val 50000"/>
            </a:avLst>
          </a:prstGeom>
          <a:solidFill>
            <a:srgbClr val="E8734A"/>
          </a:solidFill>
          <a:ln w="12700">
            <a:solidFill>
              <a:srgbClr val="FBFBF8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FBF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2</a:t>
            </a:r>
            <a:endParaRPr lang="zh-TW" dirty="0"/>
          </a:p>
        </p:txBody>
      </p:sp>
      <p:sp>
        <p:nvSpPr>
          <p:cNvPr id="90" name="Badge高雄"/>
          <p:cNvSpPr/>
          <p:nvPr/>
        </p:nvSpPr>
        <p:spPr>
          <a:xfrm>
            <a:off x="5721545" y="4200065"/>
            <a:ext cx="370000" cy="260000"/>
          </a:xfrm>
          <a:prstGeom prst="roundRect">
            <a:avLst>
              <a:gd name="adj" fmla="val 50000"/>
            </a:avLst>
          </a:prstGeom>
          <a:solidFill>
            <a:srgbClr val="E8734A"/>
          </a:solidFill>
          <a:ln w="12700">
            <a:solidFill>
              <a:srgbClr val="FBFBF8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FBF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1 · 4</a:t>
            </a:r>
            <a:endParaRPr lang="zh-TW" dirty="0"/>
          </a:p>
        </p:txBody>
      </p:sp>
      <p:sp>
        <p:nvSpPr>
          <p:cNvPr id="91" name="RouteCap"/>
          <p:cNvSpPr txBox="1"/>
          <p:nvPr/>
        </p:nvSpPr>
        <p:spPr>
          <a:xfrm>
            <a:off x="889000" y="3300000"/>
            <a:ext cx="2921000" cy="26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zh-TW" sz="1150" b="1" spc="100" dirty="0">
                <a:solidFill>
                  <a:srgbClr val="2B7A7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我的路線</a:t>
            </a:r>
            <a:endParaRPr lang="zh-TW" dirty="0"/>
          </a:p>
        </p:txBody>
      </p:sp>
      <p:sp>
        <p:nvSpPr>
          <p:cNvPr id="92" name="RouteLine"/>
          <p:cNvSpPr/>
          <p:nvPr/>
        </p:nvSpPr>
        <p:spPr>
          <a:xfrm>
            <a:off x="1038500" y="3829000"/>
            <a:ext cx="0" cy="1656000"/>
          </a:xfrm>
          <a:prstGeom prst="line">
            <a:avLst/>
          </a:prstGeom>
          <a:noFill/>
          <a:ln w="19050">
            <a:solidFill>
              <a:srgbClr val="E3E6E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3" name="Stop0"/>
          <p:cNvSpPr/>
          <p:nvPr/>
        </p:nvSpPr>
        <p:spPr>
          <a:xfrm>
            <a:off x="889000" y="3679500"/>
            <a:ext cx="299000" cy="299000"/>
          </a:xfrm>
          <a:prstGeom prst="ellipse">
            <a:avLst/>
          </a:prstGeom>
          <a:solidFill>
            <a:srgbClr val="E8734A"/>
          </a:solidFill>
          <a:ln w="12700">
            <a:solidFill>
              <a:srgbClr val="FBFBF8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BFBF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1</a:t>
            </a:r>
            <a:endParaRPr lang="zh-TW" dirty="0"/>
          </a:p>
        </p:txBody>
      </p:sp>
      <p:sp>
        <p:nvSpPr>
          <p:cNvPr id="94" name="StopT0"/>
          <p:cNvSpPr txBox="1"/>
          <p:nvPr/>
        </p:nvSpPr>
        <p:spPr>
          <a:xfrm>
            <a:off x="1360500" y="3656500"/>
            <a:ext cx="2415000" cy="34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zh-TW" sz="1500" b="1" dirty="0">
                <a:solidFill>
                  <a:srgbClr val="14213D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高雄</a:t>
            </a:r>
            <a:r>
              <a:rPr lang="zh-TW" sz="1300" dirty="0">
                <a:solidFill>
                  <a:srgbClr val="4A556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　出生</a:t>
            </a:r>
            <a:endParaRPr lang="zh-TW" dirty="0"/>
          </a:p>
        </p:txBody>
      </p:sp>
      <p:sp>
        <p:nvSpPr>
          <p:cNvPr id="95" name="Stop1"/>
          <p:cNvSpPr/>
          <p:nvPr/>
        </p:nvSpPr>
        <p:spPr>
          <a:xfrm>
            <a:off x="889000" y="4231500"/>
            <a:ext cx="299000" cy="299000"/>
          </a:xfrm>
          <a:prstGeom prst="ellipse">
            <a:avLst/>
          </a:prstGeom>
          <a:solidFill>
            <a:srgbClr val="E8734A"/>
          </a:solidFill>
          <a:ln w="12700">
            <a:solidFill>
              <a:srgbClr val="FBFBF8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BFBF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2</a:t>
            </a:r>
            <a:endParaRPr lang="zh-TW" dirty="0"/>
          </a:p>
        </p:txBody>
      </p:sp>
      <p:sp>
        <p:nvSpPr>
          <p:cNvPr id="96" name="StopT1"/>
          <p:cNvSpPr txBox="1"/>
          <p:nvPr/>
        </p:nvSpPr>
        <p:spPr>
          <a:xfrm>
            <a:off x="1360500" y="4208500"/>
            <a:ext cx="2415000" cy="34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zh-TW" sz="1500" b="1" dirty="0">
                <a:solidFill>
                  <a:srgbClr val="14213D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台中</a:t>
            </a:r>
            <a:r>
              <a:rPr lang="zh-TW" sz="1300" dirty="0">
                <a:solidFill>
                  <a:srgbClr val="4A556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　國高中</a:t>
            </a:r>
            <a:endParaRPr lang="zh-TW" dirty="0"/>
          </a:p>
        </p:txBody>
      </p:sp>
      <p:sp>
        <p:nvSpPr>
          <p:cNvPr id="97" name="Stop2"/>
          <p:cNvSpPr/>
          <p:nvPr/>
        </p:nvSpPr>
        <p:spPr>
          <a:xfrm>
            <a:off x="889000" y="4783500"/>
            <a:ext cx="299000" cy="299000"/>
          </a:xfrm>
          <a:prstGeom prst="ellipse">
            <a:avLst/>
          </a:prstGeom>
          <a:solidFill>
            <a:srgbClr val="E8734A"/>
          </a:solidFill>
          <a:ln w="12700">
            <a:solidFill>
              <a:srgbClr val="FBFBF8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BFBF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3</a:t>
            </a:r>
            <a:endParaRPr lang="zh-TW" dirty="0"/>
          </a:p>
        </p:txBody>
      </p:sp>
      <p:sp>
        <p:nvSpPr>
          <p:cNvPr id="98" name="StopT2"/>
          <p:cNvSpPr txBox="1"/>
          <p:nvPr/>
        </p:nvSpPr>
        <p:spPr>
          <a:xfrm>
            <a:off x="1360500" y="4760500"/>
            <a:ext cx="2415000" cy="34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zh-TW" sz="1500" b="1" dirty="0">
                <a:solidFill>
                  <a:srgbClr val="14213D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台北</a:t>
            </a:r>
            <a:r>
              <a:rPr lang="zh-TW" sz="1300" dirty="0">
                <a:solidFill>
                  <a:srgbClr val="4A556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　大學・教書</a:t>
            </a:r>
            <a:endParaRPr lang="zh-TW" dirty="0"/>
          </a:p>
        </p:txBody>
      </p:sp>
      <p:sp>
        <p:nvSpPr>
          <p:cNvPr id="99" name="Stop3"/>
          <p:cNvSpPr/>
          <p:nvPr/>
        </p:nvSpPr>
        <p:spPr>
          <a:xfrm>
            <a:off x="889000" y="5335500"/>
            <a:ext cx="299000" cy="299000"/>
          </a:xfrm>
          <a:prstGeom prst="ellipse">
            <a:avLst/>
          </a:prstGeom>
          <a:solidFill>
            <a:srgbClr val="2B7A78"/>
          </a:solidFill>
          <a:ln w="12700">
            <a:solidFill>
              <a:srgbClr val="FBFBF8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BFBF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4</a:t>
            </a:r>
            <a:endParaRPr lang="zh-TW" dirty="0"/>
          </a:p>
        </p:txBody>
      </p:sp>
      <p:sp>
        <p:nvSpPr>
          <p:cNvPr id="100" name="StopT3"/>
          <p:cNvSpPr txBox="1"/>
          <p:nvPr/>
        </p:nvSpPr>
        <p:spPr>
          <a:xfrm>
            <a:off x="1360500" y="5312500"/>
            <a:ext cx="2415000" cy="34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zh-TW" sz="1500" b="1" dirty="0">
                <a:solidFill>
                  <a:srgbClr val="14213D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高雄</a:t>
            </a:r>
            <a:r>
              <a:rPr lang="zh-TW" sz="1300" dirty="0">
                <a:solidFill>
                  <a:srgbClr val="4A556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　回家</a:t>
            </a:r>
            <a:r>
              <a:rPr lang="zh-TW" altLang="en-US" sz="1300" dirty="0">
                <a:solidFill>
                  <a:srgbClr val="4A556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鄉</a:t>
            </a:r>
            <a:r>
              <a:rPr lang="zh-TW" sz="1300" dirty="0">
                <a:solidFill>
                  <a:srgbClr val="4A556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工作</a:t>
            </a:r>
            <a:endParaRPr lang="zh-TW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7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42193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特別分享・轉職故事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889250"/>
            <a:ext cx="9810750" cy="667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14213D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為什麼我不想當老師了？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3785840"/>
            <a:ext cx="6200000" cy="1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臺師大數學系的畢業生，通常被期待走上教甄這條路。我後來選了不一樣的答案——那個轉彎，把我帶成了今天的工程師。</a:t>
            </a:r>
            <a:endParaRPr lang="en-US" sz="1600" dirty="0"/>
          </a:p>
        </p:txBody>
      </p:sp>
      <p:pic>
        <p:nvPicPr>
          <p:cNvPr id="61" name="ForkDiagram"/>
          <p:cNvPicPr/>
          <p:nvPr/>
        </p:nvPicPr>
        <p:blipFill>
          <a:blip r:embed="rId3"/>
          <a:stretch>
            <a:fillRect/>
          </a:stretch>
        </p:blipFill>
        <p:spPr>
          <a:xfrm>
            <a:off x="7079000" y="1505316"/>
            <a:ext cx="4300000" cy="3847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代理老師的三年</a:t>
            </a:r>
            <a:endParaRPr lang="en-US" sz="3600" dirty="0"/>
          </a:p>
        </p:txBody>
      </p:sp>
      <p:sp>
        <p:nvSpPr>
          <p:cNvPr id="7" name="Card"/>
          <p:cNvSpPr/>
          <p:nvPr/>
        </p:nvSpPr>
        <p:spPr>
          <a:xfrm>
            <a:off x="812800" y="2730500"/>
            <a:ext cx="2527300" cy="147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Accent"/>
          <p:cNvSpPr/>
          <p:nvPr/>
        </p:nvSpPr>
        <p:spPr>
          <a:xfrm>
            <a:off x="812800" y="2730500"/>
            <a:ext cx="2527300" cy="2540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Label"/>
          <p:cNvSpPr/>
          <p:nvPr/>
        </p:nvSpPr>
        <p:spPr>
          <a:xfrm>
            <a:off x="812800" y="2933700"/>
            <a:ext cx="2527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79"/>
              </a:lnSpc>
              <a:buNone/>
            </a:pPr>
            <a:r>
              <a:rPr lang="en-US" sz="1200" b="1" dirty="0">
                <a:solidFill>
                  <a:srgbClr val="2B7A7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教育實習</a:t>
            </a:r>
            <a:endParaRPr lang="en-US" sz="1200" dirty="0"/>
          </a:p>
        </p:txBody>
      </p:sp>
      <p:sp>
        <p:nvSpPr>
          <p:cNvPr id="10" name="Name"/>
          <p:cNvSpPr/>
          <p:nvPr/>
        </p:nvSpPr>
        <p:spPr>
          <a:xfrm>
            <a:off x="812800" y="3197860"/>
            <a:ext cx="2527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59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建國中學</a:t>
            </a:r>
            <a:endParaRPr lang="en-US" sz="1400" dirty="0"/>
          </a:p>
        </p:txBody>
      </p:sp>
      <p:pic>
        <p:nvPicPr>
          <p:cNvPr id="11" name="Badge"/>
          <p:cNvPicPr/>
          <p:nvPr/>
        </p:nvPicPr>
        <p:blipFill>
          <a:blip r:embed="rId3"/>
          <a:stretch>
            <a:fillRect/>
          </a:stretch>
        </p:blipFill>
        <p:spPr>
          <a:xfrm>
            <a:off x="1822450" y="3522980"/>
            <a:ext cx="508000" cy="497430"/>
          </a:xfrm>
          <a:prstGeom prst="rect">
            <a:avLst/>
          </a:prstGeom>
        </p:spPr>
      </p:pic>
      <p:sp>
        <p:nvSpPr>
          <p:cNvPr id="12" name="Card"/>
          <p:cNvSpPr/>
          <p:nvPr/>
        </p:nvSpPr>
        <p:spPr>
          <a:xfrm>
            <a:off x="3492500" y="2730500"/>
            <a:ext cx="2527300" cy="147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Accent"/>
          <p:cNvSpPr/>
          <p:nvPr/>
        </p:nvSpPr>
        <p:spPr>
          <a:xfrm>
            <a:off x="3492500" y="2730500"/>
            <a:ext cx="2527300" cy="2540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Label"/>
          <p:cNvSpPr/>
          <p:nvPr/>
        </p:nvSpPr>
        <p:spPr>
          <a:xfrm>
            <a:off x="3492500" y="2933700"/>
            <a:ext cx="2527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79"/>
              </a:lnSpc>
              <a:buNone/>
            </a:pPr>
            <a:r>
              <a:rPr lang="en-US" sz="1200" b="1" dirty="0">
                <a:solidFill>
                  <a:srgbClr val="2B7A7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代課老師</a:t>
            </a:r>
            <a:endParaRPr lang="en-US" sz="1200" dirty="0"/>
          </a:p>
        </p:txBody>
      </p:sp>
      <p:sp>
        <p:nvSpPr>
          <p:cNvPr id="15" name="Name"/>
          <p:cNvSpPr/>
          <p:nvPr/>
        </p:nvSpPr>
        <p:spPr>
          <a:xfrm>
            <a:off x="3492500" y="3197860"/>
            <a:ext cx="2527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59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松山工農</a:t>
            </a:r>
            <a:endParaRPr lang="en-US" sz="1400" dirty="0"/>
          </a:p>
        </p:txBody>
      </p:sp>
      <p:pic>
        <p:nvPicPr>
          <p:cNvPr id="16" name="Badge"/>
          <p:cNvPicPr/>
          <p:nvPr/>
        </p:nvPicPr>
        <p:blipFill>
          <a:blip r:embed="rId4"/>
          <a:stretch>
            <a:fillRect/>
          </a:stretch>
        </p:blipFill>
        <p:spPr>
          <a:xfrm>
            <a:off x="4502150" y="3522980"/>
            <a:ext cx="508000" cy="508000"/>
          </a:xfrm>
          <a:prstGeom prst="rect">
            <a:avLst/>
          </a:prstGeom>
        </p:spPr>
      </p:pic>
      <p:sp>
        <p:nvSpPr>
          <p:cNvPr id="17" name="Card"/>
          <p:cNvSpPr/>
          <p:nvPr/>
        </p:nvSpPr>
        <p:spPr>
          <a:xfrm>
            <a:off x="6172200" y="2730500"/>
            <a:ext cx="2527300" cy="147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Accent"/>
          <p:cNvSpPr/>
          <p:nvPr/>
        </p:nvSpPr>
        <p:spPr>
          <a:xfrm>
            <a:off x="6172200" y="2730500"/>
            <a:ext cx="2527300" cy="2540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Label"/>
          <p:cNvSpPr/>
          <p:nvPr/>
        </p:nvSpPr>
        <p:spPr>
          <a:xfrm>
            <a:off x="6172200" y="2933700"/>
            <a:ext cx="2527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79"/>
              </a:lnSpc>
              <a:buNone/>
            </a:pPr>
            <a:r>
              <a:rPr lang="en-US" sz="1200" b="1" dirty="0">
                <a:solidFill>
                  <a:srgbClr val="2B7A7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代理老師</a:t>
            </a:r>
            <a:endParaRPr lang="en-US" sz="1200" dirty="0"/>
          </a:p>
        </p:txBody>
      </p:sp>
      <p:sp>
        <p:nvSpPr>
          <p:cNvPr id="20" name="Name"/>
          <p:cNvSpPr/>
          <p:nvPr/>
        </p:nvSpPr>
        <p:spPr>
          <a:xfrm>
            <a:off x="6172200" y="3197860"/>
            <a:ext cx="2527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59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明倫高中</a:t>
            </a:r>
            <a:endParaRPr lang="en-US" sz="1400" dirty="0"/>
          </a:p>
        </p:txBody>
      </p:sp>
      <p:pic>
        <p:nvPicPr>
          <p:cNvPr id="21" name="Badge"/>
          <p:cNvPicPr/>
          <p:nvPr/>
        </p:nvPicPr>
        <p:blipFill>
          <a:blip r:embed="rId5"/>
          <a:stretch>
            <a:fillRect/>
          </a:stretch>
        </p:blipFill>
        <p:spPr>
          <a:xfrm>
            <a:off x="7181850" y="3522980"/>
            <a:ext cx="508000" cy="472701"/>
          </a:xfrm>
          <a:prstGeom prst="rect">
            <a:avLst/>
          </a:prstGeom>
        </p:spPr>
      </p:pic>
      <p:sp>
        <p:nvSpPr>
          <p:cNvPr id="22" name="Card"/>
          <p:cNvSpPr/>
          <p:nvPr/>
        </p:nvSpPr>
        <p:spPr>
          <a:xfrm>
            <a:off x="8851900" y="2730500"/>
            <a:ext cx="2527300" cy="147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Accent"/>
          <p:cNvSpPr/>
          <p:nvPr/>
        </p:nvSpPr>
        <p:spPr>
          <a:xfrm>
            <a:off x="8851900" y="2730500"/>
            <a:ext cx="2527300" cy="2540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Label"/>
          <p:cNvSpPr/>
          <p:nvPr/>
        </p:nvSpPr>
        <p:spPr>
          <a:xfrm>
            <a:off x="8851900" y="2933700"/>
            <a:ext cx="2527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79"/>
              </a:lnSpc>
              <a:buNone/>
            </a:pPr>
            <a:r>
              <a:rPr lang="en-US" sz="1200" b="1" dirty="0">
                <a:solidFill>
                  <a:srgbClr val="2B7A7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代理老師</a:t>
            </a:r>
            <a:endParaRPr lang="en-US" sz="1200" dirty="0"/>
          </a:p>
        </p:txBody>
      </p:sp>
      <p:sp>
        <p:nvSpPr>
          <p:cNvPr id="25" name="Name"/>
          <p:cNvSpPr/>
          <p:nvPr/>
        </p:nvSpPr>
        <p:spPr>
          <a:xfrm>
            <a:off x="8851900" y="3197860"/>
            <a:ext cx="2527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59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復興高中</a:t>
            </a:r>
            <a:endParaRPr lang="en-US" sz="1400" dirty="0"/>
          </a:p>
        </p:txBody>
      </p:sp>
      <p:pic>
        <p:nvPicPr>
          <p:cNvPr id="26" name="Badge"/>
          <p:cNvPicPr/>
          <p:nvPr/>
        </p:nvPicPr>
        <p:blipFill>
          <a:blip r:embed="rId6"/>
          <a:stretch>
            <a:fillRect/>
          </a:stretch>
        </p:blipFill>
        <p:spPr>
          <a:xfrm>
            <a:off x="9861550" y="3522980"/>
            <a:ext cx="508000" cy="359611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812800" y="576074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從第一志願到後段班，三年內，我在台灣高中光譜的兩端都站過講台——也看清了代理老師「一年一聘」的現實。</a:t>
            </a:r>
            <a:endParaRPr lang="en-US" sz="1600" dirty="0"/>
          </a:p>
        </p:txBody>
      </p:sp>
      <p:sp>
        <p:nvSpPr>
          <p:cNvPr id="62" name="TimelineLine"/>
          <p:cNvSpPr/>
          <p:nvPr/>
        </p:nvSpPr>
        <p:spPr>
          <a:xfrm>
            <a:off x="812800" y="2250000"/>
            <a:ext cx="10883392" cy="0"/>
          </a:xfrm>
          <a:prstGeom prst="line">
            <a:avLst/>
          </a:prstGeom>
          <a:noFill/>
          <a:ln w="19050">
            <a:solidFill>
              <a:srgbClr val="2B7A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Tick"/>
          <p:cNvSpPr/>
          <p:nvPr/>
        </p:nvSpPr>
        <p:spPr>
          <a:xfrm>
            <a:off x="812800" y="2160000"/>
            <a:ext cx="0" cy="180000"/>
          </a:xfrm>
          <a:prstGeom prst="line">
            <a:avLst/>
          </a:prstGeom>
          <a:noFill/>
          <a:ln w="19050">
            <a:solidFill>
              <a:srgbClr val="2B7A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4" name="Tick"/>
          <p:cNvSpPr/>
          <p:nvPr/>
        </p:nvSpPr>
        <p:spPr>
          <a:xfrm>
            <a:off x="11696192" y="2160000"/>
            <a:ext cx="0" cy="180000"/>
          </a:xfrm>
          <a:prstGeom prst="line">
            <a:avLst/>
          </a:prstGeom>
          <a:noFill/>
          <a:ln w="19050">
            <a:solidFill>
              <a:srgbClr val="2B7A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Dot"/>
          <p:cNvSpPr/>
          <p:nvPr/>
        </p:nvSpPr>
        <p:spPr>
          <a:xfrm>
            <a:off x="2006450" y="2180000"/>
            <a:ext cx="140000" cy="140000"/>
          </a:xfrm>
          <a:prstGeom prst="ellipse">
            <a:avLst/>
          </a:prstGeom>
          <a:solidFill>
            <a:srgbClr val="2B7A78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6" name="Dot"/>
          <p:cNvSpPr/>
          <p:nvPr/>
        </p:nvSpPr>
        <p:spPr>
          <a:xfrm>
            <a:off x="4686150" y="2180000"/>
            <a:ext cx="140000" cy="140000"/>
          </a:xfrm>
          <a:prstGeom prst="ellipse">
            <a:avLst/>
          </a:prstGeom>
          <a:solidFill>
            <a:srgbClr val="2B7A78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7" name="Dot"/>
          <p:cNvSpPr/>
          <p:nvPr/>
        </p:nvSpPr>
        <p:spPr>
          <a:xfrm>
            <a:off x="7365850" y="2180000"/>
            <a:ext cx="140000" cy="140000"/>
          </a:xfrm>
          <a:prstGeom prst="ellipse">
            <a:avLst/>
          </a:prstGeom>
          <a:solidFill>
            <a:srgbClr val="2B7A78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8" name="Dot"/>
          <p:cNvSpPr/>
          <p:nvPr/>
        </p:nvSpPr>
        <p:spPr>
          <a:xfrm>
            <a:off x="10045550" y="2180000"/>
            <a:ext cx="140000" cy="140000"/>
          </a:xfrm>
          <a:prstGeom prst="ellipse">
            <a:avLst/>
          </a:prstGeom>
          <a:solidFill>
            <a:srgbClr val="2B7A78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Pill"/>
          <p:cNvSpPr/>
          <p:nvPr/>
        </p:nvSpPr>
        <p:spPr>
          <a:xfrm>
            <a:off x="4754496" y="2100000"/>
            <a:ext cx="3000000" cy="300000"/>
          </a:xfrm>
          <a:prstGeom prst="roundRect">
            <a:avLst>
              <a:gd name="adj" fmla="val 50000"/>
            </a:avLst>
          </a:prstGeom>
          <a:solidFill>
            <a:srgbClr val="FBFBF8"/>
          </a:solidFill>
          <a:ln w="12700">
            <a:solidFill>
              <a:srgbClr val="2B7A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" name="PillText"/>
          <p:cNvSpPr txBox="1"/>
          <p:nvPr/>
        </p:nvSpPr>
        <p:spPr>
          <a:xfrm>
            <a:off x="4754496" y="2100000"/>
            <a:ext cx="30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zh-TW" sz="1400" b="1" spc="50" dirty="0">
                <a:solidFill>
                  <a:srgbClr val="2B7A7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三年 · 四所學校 · 一年一聘</a:t>
            </a:r>
            <a:endParaRPr lang="zh-TW" dirty="0"/>
          </a:p>
        </p:txBody>
      </p:sp>
      <p:sp>
        <p:nvSpPr>
          <p:cNvPr id="71" name="Spectrum"/>
          <p:cNvSpPr/>
          <p:nvPr/>
        </p:nvSpPr>
        <p:spPr>
          <a:xfrm>
            <a:off x="812800" y="4620000"/>
            <a:ext cx="10883392" cy="200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B7A78"/>
              </a:gs>
              <a:gs pos="50000">
                <a:srgbClr val="F2C14E"/>
              </a:gs>
              <a:gs pos="100000">
                <a:srgbClr val="E07A5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Marker"/>
          <p:cNvSpPr/>
          <p:nvPr/>
        </p:nvSpPr>
        <p:spPr>
          <a:xfrm>
            <a:off x="1996450" y="4640000"/>
            <a:ext cx="160000" cy="1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" name="Marker"/>
          <p:cNvSpPr/>
          <p:nvPr/>
        </p:nvSpPr>
        <p:spPr>
          <a:xfrm>
            <a:off x="4676150" y="4640000"/>
            <a:ext cx="160000" cy="1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4" name="Marker"/>
          <p:cNvSpPr/>
          <p:nvPr/>
        </p:nvSpPr>
        <p:spPr>
          <a:xfrm>
            <a:off x="7355850" y="4640000"/>
            <a:ext cx="160000" cy="1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" name="Marker"/>
          <p:cNvSpPr/>
          <p:nvPr/>
        </p:nvSpPr>
        <p:spPr>
          <a:xfrm>
            <a:off x="10035550" y="4640000"/>
            <a:ext cx="160000" cy="1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6" name="SpecL"/>
          <p:cNvSpPr txBox="1"/>
          <p:nvPr/>
        </p:nvSpPr>
        <p:spPr>
          <a:xfrm>
            <a:off x="812800" y="4900000"/>
            <a:ext cx="30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zh-TW" sz="1400" b="1" dirty="0">
                <a:solidFill>
                  <a:srgbClr val="14213D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第一志願</a:t>
            </a:r>
            <a:endParaRPr lang="zh-TW" dirty="0"/>
          </a:p>
        </p:txBody>
      </p:sp>
      <p:sp>
        <p:nvSpPr>
          <p:cNvPr id="77" name="SpecM"/>
          <p:cNvSpPr txBox="1"/>
          <p:nvPr/>
        </p:nvSpPr>
        <p:spPr>
          <a:xfrm>
            <a:off x="812800" y="4900000"/>
            <a:ext cx="10883392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zh-TW" sz="1200" spc="100" dirty="0">
                <a:solidFill>
                  <a:srgbClr val="4A556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台灣高中光譜</a:t>
            </a:r>
            <a:endParaRPr lang="zh-TW" dirty="0"/>
          </a:p>
        </p:txBody>
      </p:sp>
      <p:sp>
        <p:nvSpPr>
          <p:cNvPr id="78" name="SpecR"/>
          <p:cNvSpPr txBox="1"/>
          <p:nvPr/>
        </p:nvSpPr>
        <p:spPr>
          <a:xfrm>
            <a:off x="8696192" y="4900000"/>
            <a:ext cx="30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00"/>
              </a:lnSpc>
              <a:buNone/>
            </a:pPr>
            <a:r>
              <a:rPr lang="zh-TW" sz="1400" b="1" dirty="0">
                <a:solidFill>
                  <a:srgbClr val="14213D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後段班</a:t>
            </a:r>
            <a:endParaRPr lang="zh-TW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812800" y="8128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9"/>
              </a:lnSpc>
              <a:buNone/>
            </a:pPr>
            <a:r>
              <a:rPr lang="en-US" sz="1200" b="1" dirty="0">
                <a:solidFill>
                  <a:srgbClr val="2B7A7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特別分享・轉職故事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812800" y="2540000"/>
            <a:ext cx="4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轉職的契機</a:t>
            </a:r>
            <a:endParaRPr lang="en-US" sz="3600" dirty="0"/>
          </a:p>
        </p:txBody>
      </p:sp>
      <p:sp>
        <p:nvSpPr>
          <p:cNvPr id="4" name="Body"/>
          <p:cNvSpPr/>
          <p:nvPr/>
        </p:nvSpPr>
        <p:spPr>
          <a:xfrm>
            <a:off x="812800" y="3429000"/>
            <a:ext cx="470000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離開教職後，我報名了資策會的 Big Data 巨量資料分析就業養成班——從數學老師，轉身學起程式。</a:t>
            </a:r>
            <a:endParaRPr lang="en-US" sz="2000" dirty="0"/>
          </a:p>
        </p:txBody>
      </p:sp>
      <p:sp>
        <p:nvSpPr>
          <p:cNvPr id="41" name="Card"/>
          <p:cNvSpPr/>
          <p:nvPr/>
        </p:nvSpPr>
        <p:spPr>
          <a:xfrm>
            <a:off x="5700000" y="1500000"/>
            <a:ext cx="5679000" cy="38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3E6E4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42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5900000" y="1650000"/>
            <a:ext cx="400000" cy="349333"/>
          </a:xfrm>
          <a:prstGeom prst="rect">
            <a:avLst/>
          </a:prstGeom>
        </p:spPr>
      </p:pic>
      <p:sp>
        <p:nvSpPr>
          <p:cNvPr id="43" name="Course"/>
          <p:cNvSpPr txBox="1"/>
          <p:nvPr/>
        </p:nvSpPr>
        <p:spPr>
          <a:xfrm>
            <a:off x="6400000" y="1670000"/>
            <a:ext cx="300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zh-TW" sz="1300" b="1" dirty="0">
                <a:solidFill>
                  <a:srgbClr val="14213D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資策會</a:t>
            </a:r>
            <a:endParaRPr lang="zh-TW" dirty="0"/>
          </a:p>
          <a:p>
            <a:pPr marL="0" indent="0" algn="l">
              <a:lnSpc>
                <a:spcPts val="1500"/>
              </a:lnSpc>
              <a:buNone/>
            </a:pPr>
            <a:r>
              <a:rPr lang="zh-TW" sz="1050" dirty="0">
                <a:solidFill>
                  <a:srgbClr val="4A556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Big Data 巨量資料分析就業養成班</a:t>
            </a:r>
            <a:endParaRPr lang="zh-TW" dirty="0"/>
          </a:p>
        </p:txBody>
      </p:sp>
      <p:sp>
        <p:nvSpPr>
          <p:cNvPr id="44" name="Tag"/>
          <p:cNvSpPr/>
          <p:nvPr/>
        </p:nvSpPr>
        <p:spPr>
          <a:xfrm>
            <a:off x="9979000" y="1690000"/>
            <a:ext cx="1200000" cy="320000"/>
          </a:xfrm>
          <a:prstGeom prst="roundRect">
            <a:avLst>
              <a:gd name="adj" fmla="val 50000"/>
            </a:avLst>
          </a:prstGeom>
          <a:solidFill>
            <a:srgbClr val="D7EBE9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lang="zh-TW" sz="1200" b="1" dirty="0">
                <a:solidFill>
                  <a:srgbClr val="2B7A7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結業專題</a:t>
            </a:r>
            <a:endParaRPr lang="zh-TW" dirty="0"/>
          </a:p>
        </p:txBody>
      </p:sp>
      <p:pic>
        <p:nvPicPr>
          <p:cNvPr id="45" name="Diagram"/>
          <p:cNvPicPr/>
          <p:nvPr/>
        </p:nvPicPr>
        <p:blipFill>
          <a:blip r:embed="rId3"/>
          <a:stretch>
            <a:fillRect/>
          </a:stretch>
        </p:blipFill>
        <p:spPr>
          <a:xfrm>
            <a:off x="5900000" y="2140000"/>
            <a:ext cx="5279000" cy="2419541"/>
          </a:xfrm>
          <a:prstGeom prst="rect">
            <a:avLst/>
          </a:prstGeom>
        </p:spPr>
      </p:pic>
      <p:sp>
        <p:nvSpPr>
          <p:cNvPr id="46" name="Name"/>
          <p:cNvSpPr txBox="1"/>
          <p:nvPr/>
        </p:nvSpPr>
        <p:spPr>
          <a:xfrm>
            <a:off x="5900000" y="4649541"/>
            <a:ext cx="5279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zh-TW" sz="1600" dirty="0">
                <a:solidFill>
                  <a:srgbClr val="4A556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我們這一組的專題：</a:t>
            </a:r>
            <a:r>
              <a:rPr lang="zh-TW" sz="2000" b="1" dirty="0">
                <a:solidFill>
                  <a:srgbClr val="14213D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輿情分析系統</a:t>
            </a:r>
            <a:endParaRPr lang="zh-TW" dirty="0"/>
          </a:p>
        </p:txBody>
      </p:sp>
      <p:sp>
        <p:nvSpPr>
          <p:cNvPr id="47" name="Sub"/>
          <p:cNvSpPr txBox="1"/>
          <p:nvPr/>
        </p:nvSpPr>
        <p:spPr>
          <a:xfrm>
            <a:off x="5900000" y="4979541"/>
            <a:ext cx="5279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spc="100" dirty="0">
                <a:solidFill>
                  <a:srgbClr val="2B7A7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Public Opinion Analysis System</a:t>
            </a:r>
            <a:endParaRPr lang="zh-TW" dirty="0"/>
          </a:p>
        </p:txBody>
      </p:sp>
      <p:sp>
        <p:nvSpPr>
          <p:cNvPr id="10" name="Footer"/>
          <p:cNvSpPr/>
          <p:nvPr/>
        </p:nvSpPr>
        <p:spPr>
          <a:xfrm>
            <a:off x="812800" y="5760720"/>
            <a:ext cx="105664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那是我從教育現場走向工程師的第一步。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現在的我</a:t>
            </a:r>
            <a:endParaRPr lang="en-US" sz="3600" dirty="0"/>
          </a:p>
        </p:txBody>
      </p:sp>
      <p:sp>
        <p:nvSpPr>
          <p:cNvPr id="31" name="Card"/>
          <p:cNvSpPr/>
          <p:nvPr/>
        </p:nvSpPr>
        <p:spPr>
          <a:xfrm>
            <a:off x="812800" y="1600000"/>
            <a:ext cx="2515108" cy="2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3E6E4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2" name="Illustration"/>
          <p:cNvPicPr/>
          <p:nvPr/>
        </p:nvPicPr>
        <p:blipFill>
          <a:blip r:embed="rId3"/>
          <a:stretch>
            <a:fillRect/>
          </a:stretch>
        </p:blipFill>
        <p:spPr>
          <a:xfrm>
            <a:off x="922528" y="1709728"/>
            <a:ext cx="2295652" cy="1434782"/>
          </a:xfrm>
          <a:prstGeom prst="rect">
            <a:avLst/>
          </a:prstGeom>
        </p:spPr>
      </p:pic>
      <p:sp>
        <p:nvSpPr>
          <p:cNvPr id="33" name="Name"/>
          <p:cNvSpPr txBox="1"/>
          <p:nvPr/>
        </p:nvSpPr>
        <p:spPr>
          <a:xfrm>
            <a:off x="922528" y="3264510"/>
            <a:ext cx="229565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zh-TW" sz="1800" b="1" dirty="0">
                <a:solidFill>
                  <a:srgbClr val="14213D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前端</a:t>
            </a:r>
            <a:endParaRPr lang="zh-TW" dirty="0"/>
          </a:p>
        </p:txBody>
      </p:sp>
      <p:sp>
        <p:nvSpPr>
          <p:cNvPr id="34" name="Sub"/>
          <p:cNvSpPr txBox="1"/>
          <p:nvPr/>
        </p:nvSpPr>
        <p:spPr>
          <a:xfrm>
            <a:off x="922528" y="3564510"/>
            <a:ext cx="2295652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spc="100" dirty="0">
                <a:solidFill>
                  <a:srgbClr val="2B7A7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FRONTEND</a:t>
            </a:r>
            <a:endParaRPr lang="zh-TW" dirty="0"/>
          </a:p>
        </p:txBody>
      </p:sp>
      <p:sp>
        <p:nvSpPr>
          <p:cNvPr id="35" name="Desc"/>
          <p:cNvSpPr txBox="1"/>
          <p:nvPr/>
        </p:nvSpPr>
        <p:spPr>
          <a:xfrm>
            <a:off x="922528" y="3824510"/>
            <a:ext cx="2295652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zh-TW" sz="1300" dirty="0">
                <a:solidFill>
                  <a:srgbClr val="4A556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把設計稿變成使用者看得到、點得到的網頁畫面。</a:t>
            </a:r>
            <a:endParaRPr lang="zh-TW" dirty="0"/>
          </a:p>
        </p:txBody>
      </p:sp>
      <p:sp>
        <p:nvSpPr>
          <p:cNvPr id="36" name="Card"/>
          <p:cNvSpPr/>
          <p:nvPr/>
        </p:nvSpPr>
        <p:spPr>
          <a:xfrm>
            <a:off x="3602228" y="1600000"/>
            <a:ext cx="2515108" cy="2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3E6E4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7" name="Illustration"/>
          <p:cNvPicPr/>
          <p:nvPr/>
        </p:nvPicPr>
        <p:blipFill>
          <a:blip r:embed="rId4"/>
          <a:stretch>
            <a:fillRect/>
          </a:stretch>
        </p:blipFill>
        <p:spPr>
          <a:xfrm>
            <a:off x="3711956" y="1709728"/>
            <a:ext cx="2295652" cy="1434782"/>
          </a:xfrm>
          <a:prstGeom prst="rect">
            <a:avLst/>
          </a:prstGeom>
        </p:spPr>
      </p:pic>
      <p:sp>
        <p:nvSpPr>
          <p:cNvPr id="38" name="Name"/>
          <p:cNvSpPr txBox="1"/>
          <p:nvPr/>
        </p:nvSpPr>
        <p:spPr>
          <a:xfrm>
            <a:off x="3711956" y="3264510"/>
            <a:ext cx="229565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zh-TW" sz="1800" b="1" dirty="0">
                <a:solidFill>
                  <a:srgbClr val="14213D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UI／UX</a:t>
            </a:r>
            <a:endParaRPr lang="zh-TW" dirty="0"/>
          </a:p>
        </p:txBody>
      </p:sp>
      <p:sp>
        <p:nvSpPr>
          <p:cNvPr id="39" name="Sub"/>
          <p:cNvSpPr txBox="1"/>
          <p:nvPr/>
        </p:nvSpPr>
        <p:spPr>
          <a:xfrm>
            <a:off x="3711956" y="3564510"/>
            <a:ext cx="2295652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spc="100" dirty="0">
                <a:solidFill>
                  <a:srgbClr val="2B7A7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DESIGN</a:t>
            </a:r>
            <a:endParaRPr lang="zh-TW" dirty="0"/>
          </a:p>
        </p:txBody>
      </p:sp>
      <p:sp>
        <p:nvSpPr>
          <p:cNvPr id="40" name="Desc"/>
          <p:cNvSpPr txBox="1"/>
          <p:nvPr/>
        </p:nvSpPr>
        <p:spPr>
          <a:xfrm>
            <a:off x="3711956" y="3824510"/>
            <a:ext cx="2295652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zh-TW" sz="1300" dirty="0">
                <a:solidFill>
                  <a:srgbClr val="4A556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規劃介面長什麼樣、操作流程順不順手。</a:t>
            </a:r>
            <a:endParaRPr lang="zh-TW" dirty="0"/>
          </a:p>
        </p:txBody>
      </p:sp>
      <p:sp>
        <p:nvSpPr>
          <p:cNvPr id="41" name="Card"/>
          <p:cNvSpPr/>
          <p:nvPr/>
        </p:nvSpPr>
        <p:spPr>
          <a:xfrm>
            <a:off x="6391656" y="1600000"/>
            <a:ext cx="2515108" cy="2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3E6E4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42" name="Illustration"/>
          <p:cNvPicPr/>
          <p:nvPr/>
        </p:nvPicPr>
        <p:blipFill>
          <a:blip r:embed="rId5"/>
          <a:stretch>
            <a:fillRect/>
          </a:stretch>
        </p:blipFill>
        <p:spPr>
          <a:xfrm>
            <a:off x="6501384" y="1709728"/>
            <a:ext cx="2295652" cy="1434782"/>
          </a:xfrm>
          <a:prstGeom prst="rect">
            <a:avLst/>
          </a:prstGeom>
        </p:spPr>
      </p:pic>
      <p:sp>
        <p:nvSpPr>
          <p:cNvPr id="43" name="Name"/>
          <p:cNvSpPr txBox="1"/>
          <p:nvPr/>
        </p:nvSpPr>
        <p:spPr>
          <a:xfrm>
            <a:off x="6501384" y="3264510"/>
            <a:ext cx="229565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zh-TW" sz="1800" b="1" dirty="0">
                <a:solidFill>
                  <a:srgbClr val="14213D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後端</a:t>
            </a:r>
            <a:endParaRPr lang="zh-TW" dirty="0"/>
          </a:p>
        </p:txBody>
      </p:sp>
      <p:sp>
        <p:nvSpPr>
          <p:cNvPr id="44" name="Sub"/>
          <p:cNvSpPr txBox="1"/>
          <p:nvPr/>
        </p:nvSpPr>
        <p:spPr>
          <a:xfrm>
            <a:off x="6501384" y="3564510"/>
            <a:ext cx="2295652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spc="100" dirty="0">
                <a:solidFill>
                  <a:srgbClr val="2B7A7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BACKEND</a:t>
            </a:r>
            <a:endParaRPr lang="zh-TW" dirty="0"/>
          </a:p>
        </p:txBody>
      </p:sp>
      <p:sp>
        <p:nvSpPr>
          <p:cNvPr id="45" name="Desc"/>
          <p:cNvSpPr txBox="1"/>
          <p:nvPr/>
        </p:nvSpPr>
        <p:spPr>
          <a:xfrm>
            <a:off x="6501384" y="3824510"/>
            <a:ext cx="2295652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zh-TW" sz="1300" dirty="0">
                <a:solidFill>
                  <a:srgbClr val="4A556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處理資料、API 與商業邏輯，讓畫面背後的功能真的能運作。</a:t>
            </a:r>
            <a:endParaRPr lang="zh-TW" dirty="0"/>
          </a:p>
        </p:txBody>
      </p:sp>
      <p:sp>
        <p:nvSpPr>
          <p:cNvPr id="46" name="Card"/>
          <p:cNvSpPr/>
          <p:nvPr/>
        </p:nvSpPr>
        <p:spPr>
          <a:xfrm>
            <a:off x="9181084" y="1600000"/>
            <a:ext cx="2515108" cy="2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3E6E4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47" name="Illustration"/>
          <p:cNvPicPr/>
          <p:nvPr/>
        </p:nvPicPr>
        <p:blipFill>
          <a:blip r:embed="rId6"/>
          <a:stretch>
            <a:fillRect/>
          </a:stretch>
        </p:blipFill>
        <p:spPr>
          <a:xfrm>
            <a:off x="9290812" y="1709728"/>
            <a:ext cx="2295652" cy="1434782"/>
          </a:xfrm>
          <a:prstGeom prst="rect">
            <a:avLst/>
          </a:prstGeom>
        </p:spPr>
      </p:pic>
      <p:sp>
        <p:nvSpPr>
          <p:cNvPr id="48" name="Name"/>
          <p:cNvSpPr txBox="1"/>
          <p:nvPr/>
        </p:nvSpPr>
        <p:spPr>
          <a:xfrm>
            <a:off x="9290812" y="3264510"/>
            <a:ext cx="229565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DevOps</a:t>
            </a:r>
            <a:endParaRPr lang="zh-TW" dirty="0"/>
          </a:p>
        </p:txBody>
      </p:sp>
      <p:sp>
        <p:nvSpPr>
          <p:cNvPr id="49" name="Sub"/>
          <p:cNvSpPr txBox="1"/>
          <p:nvPr/>
        </p:nvSpPr>
        <p:spPr>
          <a:xfrm>
            <a:off x="9290812" y="3564510"/>
            <a:ext cx="2295652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spc="100" dirty="0">
                <a:solidFill>
                  <a:srgbClr val="2B7A7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CLOUD</a:t>
            </a:r>
            <a:endParaRPr lang="zh-TW" dirty="0"/>
          </a:p>
        </p:txBody>
      </p:sp>
      <p:sp>
        <p:nvSpPr>
          <p:cNvPr id="50" name="Desc"/>
          <p:cNvSpPr txBox="1"/>
          <p:nvPr/>
        </p:nvSpPr>
        <p:spPr>
          <a:xfrm>
            <a:off x="9290812" y="3824510"/>
            <a:ext cx="2295652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zh-TW" sz="1300" dirty="0">
                <a:solidFill>
                  <a:srgbClr val="4A556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把程式自動建置、部署到雲端，並監控系統穩定運行。</a:t>
            </a:r>
            <a:endParaRPr lang="zh-TW" dirty="0"/>
          </a:p>
        </p:txBody>
      </p:sp>
      <p:sp>
        <p:nvSpPr>
          <p:cNvPr id="51" name="Text 10"/>
          <p:cNvSpPr txBox="1"/>
          <p:nvPr/>
        </p:nvSpPr>
        <p:spPr>
          <a:xfrm>
            <a:off x="812800" y="482000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zh-TW" sz="1600" dirty="0">
                <a:solidFill>
                  <a:srgbClr val="4A556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目前任職於聯和趨動股份有限公司，擔任 Back-end Developer。</a:t>
            </a:r>
            <a:endParaRPr lang="zh-TW" dirty="0"/>
          </a:p>
        </p:txBody>
      </p:sp>
      <p:pic>
        <p:nvPicPr>
          <p:cNvPr id="52" name="Pin"/>
          <p:cNvPicPr/>
          <p:nvPr/>
        </p:nvPicPr>
        <p:blipFill>
          <a:blip r:embed="rId7"/>
          <a:stretch>
            <a:fillRect/>
          </a:stretch>
        </p:blipFill>
        <p:spPr>
          <a:xfrm>
            <a:off x="812800" y="5190000"/>
            <a:ext cx="228600" cy="228600"/>
          </a:xfrm>
          <a:prstGeom prst="rect">
            <a:avLst/>
          </a:prstGeom>
        </p:spPr>
      </p:pic>
      <p:sp>
        <p:nvSpPr>
          <p:cNvPr id="53" name="Location"/>
          <p:cNvSpPr txBox="1"/>
          <p:nvPr/>
        </p:nvSpPr>
        <p:spPr>
          <a:xfrm>
            <a:off x="1121400" y="5180000"/>
            <a:ext cx="105747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zh-TW" sz="1600" dirty="0">
                <a:solidFill>
                  <a:srgbClr val="4A556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公司坐落於 </a:t>
            </a:r>
            <a:r>
              <a:rPr lang="zh-TW" sz="1600" b="1" dirty="0">
                <a:solidFill>
                  <a:srgbClr val="2B7A7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高雄軟體園區</a:t>
            </a:r>
            <a:r>
              <a:rPr lang="zh-TW" sz="1600" dirty="0">
                <a:solidFill>
                  <a:srgbClr val="4A556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，位於高雄市前鎮區。</a:t>
            </a:r>
            <a:endParaRPr lang="zh-TW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900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從 AI 輔助開發，到全 AI 自主開發</a:t>
            </a:r>
            <a:endParaRPr lang="en-US" sz="3600" dirty="0"/>
          </a:p>
        </p:txBody>
      </p:sp>
      <p:sp>
        <p:nvSpPr>
          <p:cNvPr id="21" name="Eyebrow L"/>
          <p:cNvSpPr txBox="1"/>
          <p:nvPr/>
        </p:nvSpPr>
        <p:spPr>
          <a:xfrm>
            <a:off x="812800" y="1700000"/>
            <a:ext cx="390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9"/>
              </a:lnSpc>
              <a:buNone/>
            </a:pPr>
            <a:r>
              <a:rPr lang="zh-TW" sz="1200" b="1" spc="100" dirty="0">
                <a:solidFill>
                  <a:srgbClr val="2B7A7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天天在用的 AI 工具</a:t>
            </a:r>
            <a:endParaRPr lang="zh-TW" dirty="0"/>
          </a:p>
        </p:txBody>
      </p:sp>
      <p:pic>
        <p:nvPicPr>
          <p:cNvPr id="22" name="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1250000" y="2600000"/>
            <a:ext cx="914400" cy="914400"/>
          </a:xfrm>
          <a:prstGeom prst="rect">
            <a:avLst/>
          </a:prstGeom>
        </p:spPr>
      </p:pic>
      <p:sp>
        <p:nvSpPr>
          <p:cNvPr id="23" name="Label"/>
          <p:cNvSpPr txBox="1"/>
          <p:nvPr/>
        </p:nvSpPr>
        <p:spPr>
          <a:xfrm>
            <a:off x="869000" y="3654400"/>
            <a:ext cx="167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Claude Code</a:t>
            </a:r>
            <a:endParaRPr lang="zh-TW" dirty="0"/>
          </a:p>
        </p:txBody>
      </p:sp>
      <p:pic>
        <p:nvPicPr>
          <p:cNvPr id="24" name="Logo"/>
          <p:cNvPicPr/>
          <p:nvPr/>
        </p:nvPicPr>
        <p:blipFill>
          <a:blip r:embed="rId4"/>
          <a:stretch>
            <a:fillRect/>
          </a:stretch>
        </p:blipFill>
        <p:spPr>
          <a:xfrm>
            <a:off x="3050000" y="2600000"/>
            <a:ext cx="914400" cy="914400"/>
          </a:xfrm>
          <a:prstGeom prst="rect">
            <a:avLst/>
          </a:prstGeom>
        </p:spPr>
      </p:pic>
      <p:sp>
        <p:nvSpPr>
          <p:cNvPr id="25" name="Label"/>
          <p:cNvSpPr txBox="1"/>
          <p:nvPr/>
        </p:nvSpPr>
        <p:spPr>
          <a:xfrm>
            <a:off x="2669000" y="3654400"/>
            <a:ext cx="167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Codex</a:t>
            </a:r>
            <a:endParaRPr lang="zh-TW" dirty="0"/>
          </a:p>
        </p:txBody>
      </p:sp>
      <p:sp>
        <p:nvSpPr>
          <p:cNvPr id="26" name="Eyebrow R"/>
          <p:cNvSpPr txBox="1"/>
          <p:nvPr/>
        </p:nvSpPr>
        <p:spPr>
          <a:xfrm>
            <a:off x="5400000" y="1700000"/>
            <a:ext cx="600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9"/>
              </a:lnSpc>
              <a:buNone/>
            </a:pPr>
            <a:r>
              <a:rPr lang="zh-TW" sz="1200" b="1" spc="100" dirty="0">
                <a:solidFill>
                  <a:srgbClr val="2B7A7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AI 工程演進：Prompt → Graph</a:t>
            </a:r>
            <a:endParaRPr lang="zh-TW" dirty="0"/>
          </a:p>
        </p:txBody>
      </p:sp>
      <p:sp>
        <p:nvSpPr>
          <p:cNvPr id="27" name="Step 1"/>
          <p:cNvSpPr/>
          <p:nvPr/>
        </p:nvSpPr>
        <p:spPr>
          <a:xfrm>
            <a:off x="5400000" y="3850000"/>
            <a:ext cx="1130000" cy="1050000"/>
          </a:xfrm>
          <a:prstGeom prst="roundRect">
            <a:avLst>
              <a:gd name="adj" fmla="val 8000"/>
            </a:avLst>
          </a:prstGeom>
          <a:solidFill>
            <a:srgbClr val="22C55E"/>
          </a:solidFill>
          <a:ln>
            <a:noFill/>
          </a:ln>
        </p:spPr>
        <p:txBody>
          <a:bodyPr wrap="square" lIns="91440" tIns="91440" rIns="91440" bIns="91440" rtlCol="0" anchor="t">
            <a:norm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① Prompt</a:t>
            </a:r>
            <a:endParaRPr lang="zh-TW" dirty="0"/>
          </a:p>
          <a:p>
            <a:pPr marL="0" indent="0" algn="ctr">
              <a:lnSpc>
                <a:spcPts val="2000"/>
              </a:lnSpc>
              <a:spcBef>
                <a:spcPts val="300"/>
              </a:spcBef>
              <a:buNone/>
            </a:pPr>
            <a:r>
              <a:rPr lang="zh-TW" sz="1500" b="1" dirty="0">
                <a:solidFill>
                  <a:srgbClr val="FFFFFF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提示工程</a:t>
            </a:r>
            <a:endParaRPr lang="zh-TW" dirty="0"/>
          </a:p>
          <a:p>
            <a:pPr marL="0" indent="0" algn="ctr">
              <a:lnSpc>
                <a:spcPts val="1600"/>
              </a:lnSpc>
              <a:spcBef>
                <a:spcPts val="200"/>
              </a:spcBef>
              <a:buNone/>
            </a:pPr>
            <a:r>
              <a:rPr lang="zh-TW" sz="1200" dirty="0">
                <a:solidFill>
                  <a:srgbClr val="FFFFFF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管「字句」</a:t>
            </a:r>
            <a:endParaRPr lang="zh-TW" dirty="0"/>
          </a:p>
        </p:txBody>
      </p:sp>
      <p:sp>
        <p:nvSpPr>
          <p:cNvPr id="28" name="Step 2"/>
          <p:cNvSpPr/>
          <p:nvPr/>
        </p:nvSpPr>
        <p:spPr>
          <a:xfrm>
            <a:off x="6600000" y="3410000"/>
            <a:ext cx="1130000" cy="149000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</p:spPr>
        <p:txBody>
          <a:bodyPr wrap="square" lIns="91440" tIns="91440" rIns="91440" bIns="91440" rtlCol="0" anchor="t">
            <a:norm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② Context</a:t>
            </a:r>
            <a:endParaRPr lang="zh-TW" dirty="0"/>
          </a:p>
          <a:p>
            <a:pPr marL="0" indent="0" algn="ctr">
              <a:lnSpc>
                <a:spcPts val="2000"/>
              </a:lnSpc>
              <a:spcBef>
                <a:spcPts val="300"/>
              </a:spcBef>
              <a:buNone/>
            </a:pPr>
            <a:r>
              <a:rPr lang="zh-TW" sz="1500" b="1" dirty="0">
                <a:solidFill>
                  <a:srgbClr val="FFFFFF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脈絡工程</a:t>
            </a:r>
            <a:endParaRPr lang="zh-TW" dirty="0"/>
          </a:p>
          <a:p>
            <a:pPr marL="0" indent="0" algn="ctr">
              <a:lnSpc>
                <a:spcPts val="1600"/>
              </a:lnSpc>
              <a:spcBef>
                <a:spcPts val="200"/>
              </a:spcBef>
              <a:buNone/>
            </a:pPr>
            <a:r>
              <a:rPr lang="zh-TW" sz="1200" dirty="0">
                <a:solidFill>
                  <a:srgbClr val="FFFFFF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管「資訊」</a:t>
            </a:r>
            <a:endParaRPr lang="zh-TW" dirty="0"/>
          </a:p>
        </p:txBody>
      </p:sp>
      <p:sp>
        <p:nvSpPr>
          <p:cNvPr id="29" name="Step 3"/>
          <p:cNvSpPr/>
          <p:nvPr/>
        </p:nvSpPr>
        <p:spPr>
          <a:xfrm>
            <a:off x="7800000" y="2970000"/>
            <a:ext cx="1130000" cy="19300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txBody>
          <a:bodyPr wrap="square" lIns="91440" tIns="91440" rIns="91440" bIns="91440" rtlCol="0" anchor="t">
            <a:norm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③ Harness</a:t>
            </a:r>
            <a:endParaRPr lang="zh-TW" dirty="0"/>
          </a:p>
          <a:p>
            <a:pPr marL="0" indent="0" algn="ctr">
              <a:lnSpc>
                <a:spcPts val="2000"/>
              </a:lnSpc>
              <a:spcBef>
                <a:spcPts val="300"/>
              </a:spcBef>
              <a:buNone/>
            </a:pPr>
            <a:r>
              <a:rPr lang="zh-TW" sz="1500" b="1" dirty="0">
                <a:solidFill>
                  <a:srgbClr val="FFFFFF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骨架工程</a:t>
            </a:r>
            <a:endParaRPr lang="zh-TW" dirty="0"/>
          </a:p>
          <a:p>
            <a:pPr marL="0" indent="0" algn="ctr">
              <a:lnSpc>
                <a:spcPts val="1600"/>
              </a:lnSpc>
              <a:spcBef>
                <a:spcPts val="200"/>
              </a:spcBef>
              <a:buNone/>
            </a:pPr>
            <a:r>
              <a:rPr lang="zh-TW" sz="1200" dirty="0">
                <a:solidFill>
                  <a:srgbClr val="FFFFFF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管「環境」</a:t>
            </a:r>
            <a:endParaRPr lang="zh-TW" dirty="0"/>
          </a:p>
        </p:txBody>
      </p:sp>
      <p:sp>
        <p:nvSpPr>
          <p:cNvPr id="30" name="Step 4"/>
          <p:cNvSpPr/>
          <p:nvPr/>
        </p:nvSpPr>
        <p:spPr>
          <a:xfrm>
            <a:off x="9000000" y="2530000"/>
            <a:ext cx="1130000" cy="23700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txBody>
          <a:bodyPr wrap="square" lIns="91440" tIns="91440" rIns="91440" bIns="91440" rtlCol="0" anchor="t">
            <a:norm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④ Loop</a:t>
            </a:r>
            <a:endParaRPr lang="zh-TW" dirty="0"/>
          </a:p>
          <a:p>
            <a:pPr marL="0" indent="0" algn="ctr">
              <a:lnSpc>
                <a:spcPts val="2000"/>
              </a:lnSpc>
              <a:spcBef>
                <a:spcPts val="300"/>
              </a:spcBef>
              <a:buNone/>
            </a:pPr>
            <a:r>
              <a:rPr lang="zh-TW" sz="1500" b="1" dirty="0">
                <a:solidFill>
                  <a:srgbClr val="FFFFFF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迴圈工程</a:t>
            </a:r>
            <a:endParaRPr lang="zh-TW" dirty="0"/>
          </a:p>
          <a:p>
            <a:pPr marL="0" indent="0" algn="ctr">
              <a:lnSpc>
                <a:spcPts val="1600"/>
              </a:lnSpc>
              <a:spcBef>
                <a:spcPts val="200"/>
              </a:spcBef>
              <a:buNone/>
            </a:pPr>
            <a:r>
              <a:rPr lang="zh-TW" sz="1200" dirty="0">
                <a:solidFill>
                  <a:srgbClr val="FFFFFF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管「迴圈」</a:t>
            </a:r>
            <a:endParaRPr lang="zh-TW" dirty="0"/>
          </a:p>
        </p:txBody>
      </p:sp>
      <p:sp>
        <p:nvSpPr>
          <p:cNvPr id="31" name="Step 5"/>
          <p:cNvSpPr/>
          <p:nvPr/>
        </p:nvSpPr>
        <p:spPr>
          <a:xfrm>
            <a:off x="10200000" y="2090000"/>
            <a:ext cx="1130000" cy="2810000"/>
          </a:xfrm>
          <a:prstGeom prst="roundRect">
            <a:avLst>
              <a:gd name="adj" fmla="val 8000"/>
            </a:avLst>
          </a:prstGeom>
          <a:solidFill>
            <a:srgbClr val="DB2777"/>
          </a:solidFill>
          <a:ln>
            <a:noFill/>
          </a:ln>
        </p:spPr>
        <p:txBody>
          <a:bodyPr wrap="square" lIns="91440" tIns="91440" rIns="91440" bIns="91440" rtlCol="0" anchor="t">
            <a:norm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⑤ Graph</a:t>
            </a:r>
            <a:endParaRPr lang="zh-TW" dirty="0"/>
          </a:p>
          <a:p>
            <a:pPr marL="0" indent="0" algn="ctr">
              <a:lnSpc>
                <a:spcPts val="2000"/>
              </a:lnSpc>
              <a:spcBef>
                <a:spcPts val="300"/>
              </a:spcBef>
              <a:buNone/>
            </a:pPr>
            <a:r>
              <a:rPr lang="zh-TW" sz="1500" b="1" dirty="0">
                <a:solidFill>
                  <a:srgbClr val="FFFFFF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圖工程</a:t>
            </a:r>
            <a:endParaRPr lang="zh-TW" dirty="0"/>
          </a:p>
          <a:p>
            <a:pPr marL="0" indent="0" algn="ctr">
              <a:lnSpc>
                <a:spcPts val="1600"/>
              </a:lnSpc>
              <a:spcBef>
                <a:spcPts val="200"/>
              </a:spcBef>
              <a:buNone/>
            </a:pPr>
            <a:r>
              <a:rPr lang="zh-TW" sz="1200" dirty="0">
                <a:solidFill>
                  <a:srgbClr val="FFFFFF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管「組織」</a:t>
            </a:r>
            <a:endParaRPr lang="zh-TW" dirty="0"/>
          </a:p>
        </p:txBody>
      </p:sp>
      <p:sp>
        <p:nvSpPr>
          <p:cNvPr id="32" name="Caption"/>
          <p:cNvSpPr txBox="1"/>
          <p:nvPr/>
        </p:nvSpPr>
        <p:spPr>
          <a:xfrm>
            <a:off x="5400000" y="4990000"/>
            <a:ext cx="60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zh-TW" sz="1200" dirty="0">
                <a:solidFill>
                  <a:srgbClr val="4A556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一層包一層：字句 → 資訊 → 環境 → 迴圈 → 組織，範圍越來越大、能力越來越強</a:t>
            </a:r>
            <a:endParaRPr lang="zh-TW" dirty="0"/>
          </a:p>
        </p:txBody>
      </p:sp>
      <p:sp>
        <p:nvSpPr>
          <p:cNvPr id="33" name="Text 12"/>
          <p:cNvSpPr txBox="1"/>
          <p:nvPr/>
        </p:nvSpPr>
        <p:spPr>
          <a:xfrm>
            <a:off x="812800" y="5420000"/>
            <a:ext cx="108839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zh-TW" sz="1500" b="1" dirty="0">
                <a:solidFill>
                  <a:srgbClr val="2B7A7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初期　</a:t>
            </a:r>
            <a:r>
              <a:rPr lang="zh-TW" sz="1500" dirty="0">
                <a:solidFill>
                  <a:srgbClr val="4A556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覺得 AI 輔助寫程式很爛：找不到問題，也不知道該怎麼調整程式碼。</a:t>
            </a:r>
            <a:endParaRPr lang="zh-TW" dirty="0"/>
          </a:p>
          <a:p>
            <a:pPr marL="0" indent="0" algn="l">
              <a:lnSpc>
                <a:spcPts val="2400"/>
              </a:lnSpc>
              <a:spcBef>
                <a:spcPts val="300"/>
              </a:spcBef>
              <a:buNone/>
            </a:pPr>
            <a:r>
              <a:rPr lang="zh-TW" sz="1500" b="1" dirty="0">
                <a:solidFill>
                  <a:srgbClr val="2B7A7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中後期　</a:t>
            </a:r>
            <a:r>
              <a:rPr lang="zh-TW" sz="1500" dirty="0">
                <a:solidFill>
                  <a:srgbClr val="4A556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進入半輔助開發：AI 能協助找出問題根因，由我決定怎麼改。</a:t>
            </a:r>
            <a:endParaRPr lang="zh-TW" dirty="0"/>
          </a:p>
          <a:p>
            <a:pPr marL="0" indent="0" algn="l">
              <a:lnSpc>
                <a:spcPts val="2400"/>
              </a:lnSpc>
              <a:spcBef>
                <a:spcPts val="300"/>
              </a:spcBef>
              <a:buNone/>
            </a:pPr>
            <a:r>
              <a:rPr lang="zh-TW" sz="1500" b="1" dirty="0">
                <a:solidFill>
                  <a:srgbClr val="2B7A7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現在　</a:t>
            </a:r>
            <a:r>
              <a:rPr lang="zh-TW" sz="1500" dirty="0">
                <a:solidFill>
                  <a:srgbClr val="4A556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全自動開發：AI 擁有自己的大腦，能協助我完成開發與運維。</a:t>
            </a:r>
            <a:endParaRPr lang="zh-TW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812800" y="812800"/>
            <a:ext cx="6032500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為什麼要回來念書？</a:t>
            </a:r>
            <a:endParaRPr lang="en-US" sz="3600" dirty="0"/>
          </a:p>
        </p:txBody>
      </p:sp>
      <p:sp>
        <p:nvSpPr>
          <p:cNvPr id="3" name="Body"/>
          <p:cNvSpPr/>
          <p:nvPr/>
        </p:nvSpPr>
        <p:spPr>
          <a:xfrm>
            <a:off x="812800" y="3143250"/>
            <a:ext cx="6032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我會的技能，AI 幾乎都能做，而且做得比我好。這不是終點，而是提醒：工程師的價值正在往上移。所以我決定往前學，從會「用」AI，走到懂 AI 怎麼運作。</a:t>
            </a:r>
            <a:endParaRPr lang="en-US" sz="2000" dirty="0"/>
          </a:p>
        </p:txBody>
      </p:sp>
      <p:pic>
        <p:nvPicPr>
          <p:cNvPr id="4" name="Lab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7594600" y="1500000"/>
            <a:ext cx="3492500" cy="1894840"/>
          </a:xfrm>
          <a:prstGeom prst="rect">
            <a:avLst/>
          </a:prstGeom>
        </p:spPr>
      </p:pic>
      <p:sp>
        <p:nvSpPr>
          <p:cNvPr id="5" name="Footer"/>
          <p:cNvSpPr/>
          <p:nvPr/>
        </p:nvSpPr>
        <p:spPr>
          <a:xfrm>
            <a:off x="812800" y="5760720"/>
            <a:ext cx="60325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這個念頭，帶我走進了陽明交通大學應用科技碩士在職專班，加入李龍豪教授的自然語言處理實驗室。</a:t>
            </a:r>
            <a:endParaRPr lang="en-US" sz="1600" dirty="0"/>
          </a:p>
        </p:txBody>
      </p:sp>
      <p:pic>
        <p:nvPicPr>
          <p:cNvPr id="79" name="WhyDiagram"/>
          <p:cNvPicPr/>
          <p:nvPr/>
        </p:nvPicPr>
        <p:blipFill>
          <a:blip r:embed="rId4"/>
          <a:stretch>
            <a:fillRect/>
          </a:stretch>
        </p:blipFill>
        <p:spPr>
          <a:xfrm>
            <a:off x="7000000" y="3500000"/>
            <a:ext cx="4379000" cy="21238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LabelSuiteIcon"/>
          <p:cNvPicPr/>
          <p:nvPr/>
        </p:nvPicPr>
        <p:blipFill>
          <a:blip r:embed="rId3"/>
          <a:stretch>
            <a:fillRect/>
          </a:stretch>
        </p:blipFill>
        <p:spPr>
          <a:xfrm>
            <a:off x="812800" y="958850"/>
            <a:ext cx="508000" cy="50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473200" y="812800"/>
            <a:ext cx="1022350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研究主題：Label Suite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473200" y="1356320"/>
            <a:ext cx="102235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B7A7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 Config-Driven NLP Annotation Platform with Built-in Dataset Analytics・Demo Paper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579631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目標應用領域：中文醫療健康・情緒心理分析</a:t>
            </a:r>
            <a:endParaRPr lang="en-US" sz="1400" dirty="0"/>
          </a:p>
        </p:txBody>
      </p:sp>
      <p:pic>
        <p:nvPicPr>
          <p:cNvPr id="80" name="Pipeline"/>
          <p:cNvPicPr/>
          <p:nvPr/>
        </p:nvPicPr>
        <p:blipFill>
          <a:blip r:embed="rId4"/>
          <a:stretch>
            <a:fillRect/>
          </a:stretch>
        </p:blipFill>
        <p:spPr>
          <a:xfrm>
            <a:off x="812800" y="3151500"/>
            <a:ext cx="10883392" cy="2063310"/>
          </a:xfrm>
          <a:prstGeom prst="rect">
            <a:avLst/>
          </a:prstGeom>
        </p:spPr>
      </p:pic>
      <p:sp>
        <p:nvSpPr>
          <p:cNvPr id="81" name="Contrast L"/>
          <p:cNvSpPr txBox="1"/>
          <p:nvPr/>
        </p:nvSpPr>
        <p:spPr>
          <a:xfrm>
            <a:off x="812800" y="2150000"/>
            <a:ext cx="5000000" cy="4200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ts val="2300"/>
              </a:lnSpc>
              <a:buNone/>
            </a:pPr>
            <a:r>
              <a:rPr lang="zh-TW" sz="1500" b="1" dirty="0">
                <a:solidFill>
                  <a:srgbClr val="4A556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現況　</a:t>
            </a:r>
            <a:r>
              <a:rPr lang="zh-TW" sz="1500" dirty="0">
                <a:solidFill>
                  <a:srgbClr val="4A556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標記與分析工具各自為政，沒有品質視覺化</a:t>
            </a:r>
            <a:endParaRPr lang="zh-TW" dirty="0"/>
          </a:p>
        </p:txBody>
      </p:sp>
      <p:sp>
        <p:nvSpPr>
          <p:cNvPr id="82" name="Contrast Arrow"/>
          <p:cNvSpPr txBox="1"/>
          <p:nvPr/>
        </p:nvSpPr>
        <p:spPr>
          <a:xfrm>
            <a:off x="5812800" y="2150000"/>
            <a:ext cx="470000" cy="4200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B7A7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→</a:t>
            </a:r>
            <a:endParaRPr lang="zh-TW" dirty="0"/>
          </a:p>
        </p:txBody>
      </p:sp>
      <p:sp>
        <p:nvSpPr>
          <p:cNvPr id="83" name="Contrast R"/>
          <p:cNvSpPr txBox="1"/>
          <p:nvPr/>
        </p:nvSpPr>
        <p:spPr>
          <a:xfrm>
            <a:off x="6282800" y="2150000"/>
            <a:ext cx="5096192" cy="4200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2B7A78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Label Suite　</a:t>
            </a:r>
            <a:r>
              <a:rPr lang="zh-TW" sz="1500" dirty="0">
                <a:solidFill>
                  <a:srgbClr val="14213D"/>
                </a:solidFill>
                <a:latin typeface="Rubik" pitchFamily="34" charset="0"/>
                <a:ea typeface="Microsoft JhengHei" pitchFamily="34" charset="-120"/>
                <a:cs typeface="Microsoft JhengHei" pitchFamily="34" charset="-120"/>
              </a:rPr>
              <a:t>一份設定檔，配置・標記・分析一條龍</a:t>
            </a:r>
            <a:endParaRPr lang="zh-TW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QRCode"/>
          <p:cNvPicPr/>
          <p:nvPr/>
        </p:nvPicPr>
        <p:blipFill>
          <a:blip r:embed="rId3"/>
          <a:stretch>
            <a:fillRect/>
          </a:stretch>
        </p:blipFill>
        <p:spPr>
          <a:xfrm>
            <a:off x="7628040" y="1325880"/>
            <a:ext cx="3750960" cy="4206240"/>
          </a:xfrm>
          <a:prstGeom prst="roundRect">
            <a:avLst>
              <a:gd name="adj" fmla="val 5000"/>
            </a:avLst>
          </a:prstGeom>
        </p:spPr>
      </p:pic>
      <p:sp>
        <p:nvSpPr>
          <p:cNvPr id="2" name="Text 0"/>
          <p:cNvSpPr/>
          <p:nvPr/>
        </p:nvSpPr>
        <p:spPr>
          <a:xfrm>
            <a:off x="812800" y="2586980"/>
            <a:ext cx="5715000" cy="751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20"/>
              </a:lnSpc>
              <a:buNone/>
            </a:pPr>
            <a:r>
              <a:rPr lang="en-US" sz="5200" b="1" dirty="0">
                <a:solidFill>
                  <a:srgbClr val="FBFBF8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謝謝聆聽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12800" y="3516610"/>
            <a:ext cx="571500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BFD8D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期待大家的提問與建議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4039840"/>
            <a:ext cx="57150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FD8D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陳欣怡・ms.mandy610425@gmail.com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511</Words>
  <Application>Microsoft Macintosh PowerPoint</Application>
  <PresentationFormat>寬螢幕</PresentationFormat>
  <Paragraphs>124</Paragraphs>
  <Slides>10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Domine</vt:lpstr>
      <vt:lpstr>Rubik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陳欣怡 論文研討自我介紹</dc:title>
  <dc:subject>PptxGenJS Presentation</dc:subject>
  <dc:creator>PptxGenJS</dc:creator>
  <cp:lastModifiedBy>陳欣怡</cp:lastModifiedBy>
  <cp:revision>10</cp:revision>
  <dcterms:created xsi:type="dcterms:W3CDTF">2026-09-17T11:43:25Z</dcterms:created>
  <dcterms:modified xsi:type="dcterms:W3CDTF">2026-10-01T14:01:23Z</dcterms:modified>
</cp:coreProperties>
</file>