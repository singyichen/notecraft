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67" r:id="rId3"/>
    <p:sldId id="257" r:id="rId4"/>
    <p:sldId id="258" r:id="rId5"/>
    <p:sldId id="268" r:id="rId6"/>
    <p:sldId id="259" r:id="rId7"/>
    <p:sldId id="261" r:id="rId8"/>
    <p:sldId id="262" r:id="rId9"/>
    <p:sldId id="263" r:id="rId10"/>
    <p:sldId id="266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492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224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524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200" dirty="0">
                <a:solidFill>
                  <a:srgbClr val="BFD8D5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論文研討・自我介紹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792760"/>
            <a:ext cx="1088339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300"/>
              </a:lnSpc>
              <a:buNone/>
            </a:pPr>
            <a:r>
              <a:rPr lang="en-US" sz="6000" b="1" dirty="0">
                <a:solidFill>
                  <a:srgbClr val="FBFBF8"/>
                </a:solidFill>
                <a:latin typeface="Domine" pitchFamily="34" charset="0"/>
                <a:ea typeface="Domine" pitchFamily="34" charset="-122"/>
                <a:cs typeface="Domine" pitchFamily="34" charset="-120"/>
              </a:rPr>
              <a:t>陳欣怡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745260"/>
            <a:ext cx="1088339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BFD8D5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Sing-Yi Chen・AI-native 後端工程師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2800" y="4175440"/>
            <a:ext cx="544576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FD8D5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國立陽明交通大學 </a:t>
            </a:r>
            <a:r>
              <a:rPr lang="en-US" sz="1200" dirty="0" err="1">
                <a:solidFill>
                  <a:srgbClr val="BFD8D5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應用科技碩士在職專班・課程教師</a:t>
            </a:r>
            <a:r>
              <a:rPr lang="en-US" sz="1200" dirty="0">
                <a:solidFill>
                  <a:srgbClr val="BFD8D5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 </a:t>
            </a:r>
            <a:r>
              <a:rPr lang="en-US" sz="1200" dirty="0" err="1">
                <a:solidFill>
                  <a:srgbClr val="BFD8D5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蘇冠暐教授</a:t>
            </a:r>
            <a:endParaRPr lang="en-US" sz="1200" dirty="0"/>
          </a:p>
        </p:txBody>
      </p:sp>
      <p:sp>
        <p:nvSpPr>
          <p:cNvPr id="71" name="GitHubCard"/>
          <p:cNvSpPr/>
          <p:nvPr/>
        </p:nvSpPr>
        <p:spPr>
          <a:xfrm>
            <a:off x="7000000" y="1320686"/>
            <a:ext cx="4379000" cy="4216628"/>
          </a:xfrm>
          <a:prstGeom prst="roundRect">
            <a:avLst>
              <a:gd name="adj" fmla="val 5000"/>
            </a:avLst>
          </a:prstGeom>
          <a:solidFill>
            <a:srgbClr val="243C63"/>
          </a:solidFill>
          <a:ln w="9525">
            <a:solidFill>
              <a:srgbClr val="4A6894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72" name="Avatar"/>
          <p:cNvPicPr/>
          <p:nvPr/>
        </p:nvPicPr>
        <p:blipFill>
          <a:blip r:embed="rId3"/>
          <a:stretch>
            <a:fillRect/>
          </a:stretch>
        </p:blipFill>
        <p:spPr>
          <a:xfrm>
            <a:off x="7314674" y="1635360"/>
            <a:ext cx="1132826" cy="1132826"/>
          </a:xfrm>
          <a:prstGeom prst="rect">
            <a:avLst/>
          </a:prstGeom>
        </p:spPr>
      </p:pic>
      <p:pic>
        <p:nvPicPr>
          <p:cNvPr id="73" name="GitHubMark"/>
          <p:cNvPicPr/>
          <p:nvPr/>
        </p:nvPicPr>
        <p:blipFill>
          <a:blip r:embed="rId4"/>
          <a:stretch>
            <a:fillRect/>
          </a:stretch>
        </p:blipFill>
        <p:spPr>
          <a:xfrm>
            <a:off x="8674064" y="1710881"/>
            <a:ext cx="327261" cy="327261"/>
          </a:xfrm>
          <a:prstGeom prst="rect">
            <a:avLst/>
          </a:prstGeom>
        </p:spPr>
      </p:pic>
      <p:sp>
        <p:nvSpPr>
          <p:cNvPr id="74" name="Handle"/>
          <p:cNvSpPr txBox="1"/>
          <p:nvPr/>
        </p:nvSpPr>
        <p:spPr>
          <a:xfrm>
            <a:off x="9114608" y="1685708"/>
            <a:ext cx="1949719" cy="3776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66"/>
              </a:lnSpc>
              <a:buNone/>
            </a:pPr>
            <a:r>
              <a:rPr lang="en-US" sz="1762" b="1" dirty="0">
                <a:solidFill>
                  <a:srgbClr val="FBFBF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singyichen</a:t>
            </a:r>
            <a:endParaRPr lang="zh-TW" dirty="0"/>
          </a:p>
        </p:txBody>
      </p:sp>
      <p:sp>
        <p:nvSpPr>
          <p:cNvPr id="75" name="Link"/>
          <p:cNvSpPr txBox="1"/>
          <p:nvPr/>
        </p:nvSpPr>
        <p:spPr>
          <a:xfrm>
            <a:off x="8674064" y="2138838"/>
            <a:ext cx="2390262" cy="5286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36"/>
              </a:lnSpc>
              <a:buNone/>
            </a:pPr>
            <a:r>
              <a:rPr lang="en-US" sz="1133" dirty="0">
                <a:solidFill>
                  <a:srgbClr val="BFD8D5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github.com/singyichen</a:t>
            </a:r>
            <a:endParaRPr lang="zh-TW" dirty="0"/>
          </a:p>
          <a:p>
            <a:pPr marL="0" indent="0" algn="l">
              <a:lnSpc>
                <a:spcPts val="1888"/>
              </a:lnSpc>
              <a:spcBef>
                <a:spcPts val="252"/>
              </a:spcBef>
              <a:buNone/>
            </a:pPr>
            <a:r>
              <a:rPr lang="zh-TW" sz="1385" b="1" dirty="0">
                <a:solidFill>
                  <a:srgbClr val="FBFBF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Ｍandy</a:t>
            </a:r>
            <a:endParaRPr lang="zh-TW" dirty="0"/>
          </a:p>
        </p:txBody>
      </p:sp>
      <p:sp>
        <p:nvSpPr>
          <p:cNvPr id="76" name="Bio"/>
          <p:cNvSpPr txBox="1"/>
          <p:nvPr/>
        </p:nvSpPr>
        <p:spPr>
          <a:xfrm>
            <a:off x="7314674" y="3045098"/>
            <a:ext cx="3749652" cy="6545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40"/>
              </a:lnSpc>
              <a:buNone/>
            </a:pPr>
            <a:r>
              <a:rPr lang="en-US" sz="1510" b="1" dirty="0">
                <a:solidFill>
                  <a:srgbClr val="FBFBF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Backend Developer</a:t>
            </a:r>
            <a:r>
              <a:rPr lang="en-US" sz="1385" dirty="0">
                <a:solidFill>
                  <a:srgbClr val="BFD8D5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  |  </a:t>
            </a:r>
            <a:r>
              <a:rPr lang="en-US" sz="1510" b="1" dirty="0">
                <a:solidFill>
                  <a:srgbClr val="FBFBF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AI-native Backend Engineer</a:t>
            </a:r>
            <a:endParaRPr lang="zh-TW" dirty="0"/>
          </a:p>
        </p:txBody>
      </p:sp>
      <p:sp>
        <p:nvSpPr>
          <p:cNvPr id="77" name="Meta"/>
          <p:cNvSpPr txBox="1"/>
          <p:nvPr/>
        </p:nvSpPr>
        <p:spPr>
          <a:xfrm>
            <a:off x="7314674" y="3749967"/>
            <a:ext cx="3749652" cy="3272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62"/>
              </a:lnSpc>
              <a:buNone/>
            </a:pPr>
            <a:r>
              <a:rPr lang="zh-TW" sz="1259" dirty="0">
                <a:solidFill>
                  <a:srgbClr val="BFD8D5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@Trendlink 聯和趨動 · Kaohsiung, Taiwan</a:t>
            </a:r>
            <a:endParaRPr lang="zh-TW" dirty="0"/>
          </a:p>
        </p:txBody>
      </p:sp>
      <p:sp>
        <p:nvSpPr>
          <p:cNvPr id="78" name="Divider"/>
          <p:cNvSpPr/>
          <p:nvPr/>
        </p:nvSpPr>
        <p:spPr>
          <a:xfrm>
            <a:off x="7314674" y="4177924"/>
            <a:ext cx="3749652" cy="0"/>
          </a:xfrm>
          <a:prstGeom prst="line">
            <a:avLst/>
          </a:prstGeom>
          <a:noFill/>
          <a:ln w="12700">
            <a:solidFill>
              <a:srgbClr val="4A689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9" name="Stat0"/>
          <p:cNvSpPr txBox="1"/>
          <p:nvPr/>
        </p:nvSpPr>
        <p:spPr>
          <a:xfrm>
            <a:off x="7314674" y="4303793"/>
            <a:ext cx="1249884" cy="7048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021"/>
              </a:lnSpc>
              <a:buNone/>
            </a:pPr>
            <a:r>
              <a:rPr lang="en-US" sz="2517" b="1" dirty="0">
                <a:solidFill>
                  <a:srgbClr val="FBFBF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126</a:t>
            </a:r>
            <a:endParaRPr lang="zh-TW" dirty="0"/>
          </a:p>
          <a:p>
            <a:pPr marL="0" indent="0" algn="ctr">
              <a:lnSpc>
                <a:spcPts val="1636"/>
              </a:lnSpc>
              <a:spcBef>
                <a:spcPts val="126"/>
              </a:spcBef>
              <a:buNone/>
            </a:pPr>
            <a:r>
              <a:rPr lang="en-US" sz="1133" spc="100" dirty="0">
                <a:solidFill>
                  <a:srgbClr val="BFD8D5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Repos</a:t>
            </a:r>
            <a:endParaRPr lang="zh-TW" dirty="0"/>
          </a:p>
        </p:txBody>
      </p:sp>
      <p:sp>
        <p:nvSpPr>
          <p:cNvPr id="80" name="Stat1"/>
          <p:cNvSpPr txBox="1"/>
          <p:nvPr/>
        </p:nvSpPr>
        <p:spPr>
          <a:xfrm>
            <a:off x="8564558" y="4303793"/>
            <a:ext cx="1249884" cy="7048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021"/>
              </a:lnSpc>
              <a:buNone/>
            </a:pPr>
            <a:r>
              <a:rPr lang="en-US" sz="2517" b="1" dirty="0">
                <a:solidFill>
                  <a:srgbClr val="FBFBF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437</a:t>
            </a:r>
            <a:endParaRPr lang="zh-TW" dirty="0"/>
          </a:p>
          <a:p>
            <a:pPr marL="0" indent="0" algn="ctr">
              <a:lnSpc>
                <a:spcPts val="1636"/>
              </a:lnSpc>
              <a:spcBef>
                <a:spcPts val="126"/>
              </a:spcBef>
              <a:buNone/>
            </a:pPr>
            <a:r>
              <a:rPr lang="en-US" sz="1133" spc="100" dirty="0">
                <a:solidFill>
                  <a:srgbClr val="BFD8D5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Followers</a:t>
            </a:r>
            <a:endParaRPr lang="zh-TW" dirty="0"/>
          </a:p>
        </p:txBody>
      </p:sp>
      <p:sp>
        <p:nvSpPr>
          <p:cNvPr id="81" name="Stat2"/>
          <p:cNvSpPr txBox="1"/>
          <p:nvPr/>
        </p:nvSpPr>
        <p:spPr>
          <a:xfrm>
            <a:off x="9814442" y="4303793"/>
            <a:ext cx="1249884" cy="7048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021"/>
              </a:lnSpc>
              <a:buNone/>
            </a:pPr>
            <a:r>
              <a:rPr lang="en-US" sz="2517" b="1" dirty="0">
                <a:solidFill>
                  <a:srgbClr val="FBFBF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2020</a:t>
            </a:r>
            <a:endParaRPr lang="zh-TW" dirty="0"/>
          </a:p>
          <a:p>
            <a:pPr marL="0" indent="0" algn="ctr">
              <a:lnSpc>
                <a:spcPts val="1636"/>
              </a:lnSpc>
              <a:spcBef>
                <a:spcPts val="126"/>
              </a:spcBef>
              <a:buNone/>
            </a:pPr>
            <a:r>
              <a:rPr lang="en-US" sz="1133" spc="100" dirty="0">
                <a:solidFill>
                  <a:srgbClr val="BFD8D5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Since</a:t>
            </a:r>
            <a:endParaRPr lang="zh-TW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900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3600" b="1" dirty="0" err="1">
                <a:solidFill>
                  <a:srgbClr val="14213D"/>
                </a:solidFill>
                <a:latin typeface="Domine" pitchFamily="34" charset="0"/>
                <a:ea typeface="Domine" pitchFamily="34" charset="-122"/>
                <a:cs typeface="Domine" pitchFamily="34" charset="-120"/>
              </a:rPr>
              <a:t>我的人生路線圖</a:t>
            </a:r>
            <a:endParaRPr lang="en-US" sz="3600" dirty="0"/>
          </a:p>
        </p:txBody>
      </p:sp>
      <p:pic>
        <p:nvPicPr>
          <p:cNvPr id="3" name="Map"/>
          <p:cNvPicPr/>
          <p:nvPr/>
        </p:nvPicPr>
        <p:blipFill>
          <a:blip r:embed="rId2"/>
          <a:stretch>
            <a:fillRect/>
          </a:stretch>
        </p:blipFill>
        <p:spPr>
          <a:xfrm>
            <a:off x="812800" y="2300000"/>
            <a:ext cx="2310000" cy="3300000"/>
          </a:xfrm>
          <a:prstGeom prst="rect">
            <a:avLst/>
          </a:prstGeom>
        </p:spPr>
      </p:pic>
      <p:sp>
        <p:nvSpPr>
          <p:cNvPr id="4" name="Box"/>
          <p:cNvSpPr/>
          <p:nvPr/>
        </p:nvSpPr>
        <p:spPr>
          <a:xfrm>
            <a:off x="2030190" y="2711985"/>
            <a:ext cx="268125" cy="268125"/>
          </a:xfrm>
          <a:prstGeom prst="roundRect">
            <a:avLst>
              <a:gd name="adj" fmla="val 16000"/>
            </a:avLst>
          </a:prstGeom>
          <a:noFill/>
          <a:ln w="19050">
            <a:solidFill>
              <a:srgbClr val="E8734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Box"/>
          <p:cNvSpPr/>
          <p:nvPr/>
        </p:nvSpPr>
        <p:spPr>
          <a:xfrm>
            <a:off x="1536738" y="3371985"/>
            <a:ext cx="268125" cy="268125"/>
          </a:xfrm>
          <a:prstGeom prst="roundRect">
            <a:avLst>
              <a:gd name="adj" fmla="val 16000"/>
            </a:avLst>
          </a:prstGeom>
          <a:noFill/>
          <a:ln w="19050">
            <a:solidFill>
              <a:srgbClr val="E8734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Box"/>
          <p:cNvSpPr/>
          <p:nvPr/>
        </p:nvSpPr>
        <p:spPr>
          <a:xfrm>
            <a:off x="1631097" y="4630110"/>
            <a:ext cx="268125" cy="268125"/>
          </a:xfrm>
          <a:prstGeom prst="roundRect">
            <a:avLst>
              <a:gd name="adj" fmla="val 16000"/>
            </a:avLst>
          </a:prstGeom>
          <a:noFill/>
          <a:ln w="19050">
            <a:solidFill>
              <a:srgbClr val="E8734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Footer"/>
          <p:cNvSpPr/>
          <p:nvPr/>
        </p:nvSpPr>
        <p:spPr>
          <a:xfrm>
            <a:off x="812800" y="1430000"/>
            <a:ext cx="4000000" cy="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4A5568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走過台灣西半部，最後還是選擇回到最熟悉的高雄</a:t>
            </a:r>
            <a:endParaRPr lang="en-US" sz="1400" dirty="0"/>
          </a:p>
        </p:txBody>
      </p:sp>
      <p:sp>
        <p:nvSpPr>
          <p:cNvPr id="88" name="Badge台北"/>
          <p:cNvSpPr/>
          <p:nvPr/>
        </p:nvSpPr>
        <p:spPr>
          <a:xfrm>
            <a:off x="2081780" y="2592890"/>
            <a:ext cx="281496" cy="281496"/>
          </a:xfrm>
          <a:prstGeom prst="roundRect">
            <a:avLst>
              <a:gd name="adj" fmla="val 50000"/>
            </a:avLst>
          </a:prstGeom>
          <a:solidFill>
            <a:srgbClr val="E8734A"/>
          </a:solidFill>
          <a:ln w="12700">
            <a:solidFill>
              <a:srgbClr val="FBFBF8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BFBF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dirty="0"/>
          </a:p>
        </p:txBody>
      </p:sp>
      <p:sp>
        <p:nvSpPr>
          <p:cNvPr id="89" name="Badge台中"/>
          <p:cNvSpPr/>
          <p:nvPr/>
        </p:nvSpPr>
        <p:spPr>
          <a:xfrm>
            <a:off x="1588327" y="3252890"/>
            <a:ext cx="281496" cy="281496"/>
          </a:xfrm>
          <a:prstGeom prst="roundRect">
            <a:avLst>
              <a:gd name="adj" fmla="val 50000"/>
            </a:avLst>
          </a:prstGeom>
          <a:solidFill>
            <a:srgbClr val="E8734A"/>
          </a:solidFill>
          <a:ln w="12700">
            <a:solidFill>
              <a:srgbClr val="FBFBF8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BFBF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dirty="0"/>
          </a:p>
        </p:txBody>
      </p:sp>
      <p:sp>
        <p:nvSpPr>
          <p:cNvPr id="90" name="Badge高雄"/>
          <p:cNvSpPr/>
          <p:nvPr/>
        </p:nvSpPr>
        <p:spPr>
          <a:xfrm>
            <a:off x="1563592" y="4511015"/>
            <a:ext cx="400591" cy="281496"/>
          </a:xfrm>
          <a:prstGeom prst="roundRect">
            <a:avLst>
              <a:gd name="adj" fmla="val 50000"/>
            </a:avLst>
          </a:prstGeom>
          <a:solidFill>
            <a:srgbClr val="E8734A"/>
          </a:solidFill>
          <a:ln w="12700">
            <a:solidFill>
              <a:srgbClr val="FBFBF8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BFBF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1 · 4</a:t>
            </a:r>
            <a:endParaRPr lang="zh-TW" dirty="0"/>
          </a:p>
        </p:txBody>
      </p:sp>
      <p:pic>
        <p:nvPicPr>
          <p:cNvPr id="91" name="PhotoKaohsiung"/>
          <p:cNvPicPr/>
          <p:nvPr/>
        </p:nvPicPr>
        <p:blipFill>
          <a:blip r:embed="rId3"/>
          <a:stretch>
            <a:fillRect/>
          </a:stretch>
        </p:blipFill>
        <p:spPr>
          <a:xfrm rot="-100000">
            <a:off x="5300000" y="850000"/>
            <a:ext cx="2879500" cy="2346972"/>
          </a:xfrm>
          <a:prstGeom prst="rect">
            <a:avLst/>
          </a:prstGeom>
          <a:effectLst>
            <a:outerShdw blurRad="88900" dist="38100" dir="5400000" algn="t" rotWithShape="0">
              <a:srgbClr val="14213D">
                <a:alpha val="28000"/>
              </a:srgbClr>
            </a:outerShdw>
          </a:effectLst>
        </p:spPr>
      </p:pic>
      <p:sp>
        <p:nvSpPr>
          <p:cNvPr id="92" name="PhotoKaohsiungCap"/>
          <p:cNvSpPr txBox="1"/>
          <p:nvPr/>
        </p:nvSpPr>
        <p:spPr>
          <a:xfrm>
            <a:off x="5200000" y="3306972"/>
            <a:ext cx="3079500" cy="23000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zh-TW" sz="1000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高雄・小時候（1997）</a:t>
            </a:r>
            <a:endParaRPr lang="zh-TW" dirty="0"/>
          </a:p>
        </p:txBody>
      </p:sp>
      <p:pic>
        <p:nvPicPr>
          <p:cNvPr id="93" name="PhotoTaichung"/>
          <p:cNvPicPr/>
          <p:nvPr/>
        </p:nvPicPr>
        <p:blipFill>
          <a:blip r:embed="rId4"/>
          <a:stretch>
            <a:fillRect/>
          </a:stretch>
        </p:blipFill>
        <p:spPr>
          <a:xfrm rot="80000">
            <a:off x="8499500" y="930198"/>
            <a:ext cx="2879500" cy="2186575"/>
          </a:xfrm>
          <a:prstGeom prst="rect">
            <a:avLst/>
          </a:prstGeom>
          <a:effectLst>
            <a:outerShdw blurRad="88900" dist="38100" dir="5400000" algn="t" rotWithShape="0">
              <a:srgbClr val="14213D">
                <a:alpha val="28000"/>
              </a:srgbClr>
            </a:outerShdw>
          </a:effectLst>
        </p:spPr>
      </p:pic>
      <p:sp>
        <p:nvSpPr>
          <p:cNvPr id="94" name="PhotoTaichungCap"/>
          <p:cNvSpPr txBox="1"/>
          <p:nvPr/>
        </p:nvSpPr>
        <p:spPr>
          <a:xfrm>
            <a:off x="8399500" y="3306972"/>
            <a:ext cx="3079500" cy="23000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zh-TW" sz="1000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台中・高中時期（2009）</a:t>
            </a:r>
            <a:endParaRPr lang="zh-TW" dirty="0"/>
          </a:p>
        </p:txBody>
      </p:sp>
      <p:pic>
        <p:nvPicPr>
          <p:cNvPr id="95" name="PhotoTaipei"/>
          <p:cNvPicPr/>
          <p:nvPr/>
        </p:nvPicPr>
        <p:blipFill>
          <a:blip r:embed="rId5"/>
          <a:stretch>
            <a:fillRect/>
          </a:stretch>
        </p:blipFill>
        <p:spPr>
          <a:xfrm rot="-80000">
            <a:off x="5300000" y="3747765"/>
            <a:ext cx="2879500" cy="2324239"/>
          </a:xfrm>
          <a:prstGeom prst="rect">
            <a:avLst/>
          </a:prstGeom>
          <a:effectLst>
            <a:outerShdw blurRad="88900" dist="38100" dir="5400000" algn="t" rotWithShape="0">
              <a:srgbClr val="14213D">
                <a:alpha val="28000"/>
              </a:srgbClr>
            </a:outerShdw>
          </a:effectLst>
        </p:spPr>
      </p:pic>
      <p:sp>
        <p:nvSpPr>
          <p:cNvPr id="96" name="PhotoTaipeiCap"/>
          <p:cNvSpPr txBox="1"/>
          <p:nvPr/>
        </p:nvSpPr>
        <p:spPr>
          <a:xfrm>
            <a:off x="5200000" y="6192797"/>
            <a:ext cx="3079500" cy="23000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zh-TW" sz="1000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台北・大學時期（2014）</a:t>
            </a:r>
            <a:endParaRPr lang="zh-TW" dirty="0"/>
          </a:p>
        </p:txBody>
      </p:sp>
      <p:pic>
        <p:nvPicPr>
          <p:cNvPr id="97" name="PhotoFamily"/>
          <p:cNvPicPr/>
          <p:nvPr/>
        </p:nvPicPr>
        <p:blipFill>
          <a:blip r:embed="rId6"/>
          <a:stretch>
            <a:fillRect/>
          </a:stretch>
        </p:blipFill>
        <p:spPr>
          <a:xfrm rot="100000">
            <a:off x="8499500" y="3736972"/>
            <a:ext cx="2879500" cy="2345825"/>
          </a:xfrm>
          <a:prstGeom prst="rect">
            <a:avLst/>
          </a:prstGeom>
          <a:effectLst>
            <a:outerShdw blurRad="88900" dist="38100" dir="5400000" algn="t" rotWithShape="0">
              <a:srgbClr val="14213D">
                <a:alpha val="28000"/>
              </a:srgbClr>
            </a:outerShdw>
          </a:effectLst>
        </p:spPr>
      </p:pic>
      <p:sp>
        <p:nvSpPr>
          <p:cNvPr id="98" name="PhotoFamilyCap"/>
          <p:cNvSpPr txBox="1"/>
          <p:nvPr/>
        </p:nvSpPr>
        <p:spPr>
          <a:xfrm>
            <a:off x="8399500" y="6192797"/>
            <a:ext cx="3079500" cy="23000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zh-TW" sz="1000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我的家庭・中正紀念堂</a:t>
            </a:r>
            <a:endParaRPr lang="zh-TW" dirty="0"/>
          </a:p>
        </p:txBody>
      </p:sp>
      <p:sp>
        <p:nvSpPr>
          <p:cNvPr id="99" name="Legend"/>
          <p:cNvSpPr txBox="1"/>
          <p:nvPr/>
        </p:nvSpPr>
        <p:spPr>
          <a:xfrm>
            <a:off x="812800" y="5720000"/>
            <a:ext cx="4000000" cy="48000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00"/>
              </a:lnSpc>
              <a:buNone/>
            </a:pPr>
            <a:r>
              <a:rPr lang="zh-TW" sz="1000" b="1" dirty="0">
                <a:solidFill>
                  <a:srgbClr val="E8734A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① </a:t>
            </a:r>
            <a:r>
              <a:rPr lang="zh-TW" sz="1000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高雄 出生　</a:t>
            </a:r>
            <a:r>
              <a:rPr lang="zh-TW" sz="1000" b="1" dirty="0">
                <a:solidFill>
                  <a:srgbClr val="E8734A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② </a:t>
            </a:r>
            <a:r>
              <a:rPr lang="zh-TW" sz="1000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台中 國高中　</a:t>
            </a:r>
            <a:r>
              <a:rPr lang="zh-TW" sz="1000" b="1" dirty="0">
                <a:solidFill>
                  <a:srgbClr val="E8734A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③ </a:t>
            </a:r>
            <a:r>
              <a:rPr lang="zh-TW" sz="1000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台北 大學・教書　</a:t>
            </a:r>
            <a:endParaRPr lang="en-US" altLang="zh-TW" sz="1000" dirty="0">
              <a:solidFill>
                <a:srgbClr val="4A5568"/>
              </a:solidFill>
              <a:latin typeface="Rubik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>
              <a:lnSpc>
                <a:spcPts val="1600"/>
              </a:lnSpc>
              <a:buNone/>
            </a:pPr>
            <a:r>
              <a:rPr lang="zh-TW" sz="1000" b="1" dirty="0">
                <a:solidFill>
                  <a:srgbClr val="2B7A7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④ </a:t>
            </a:r>
            <a:r>
              <a:rPr lang="zh-TW" sz="1000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高雄 回家鄉工作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7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2611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200" dirty="0">
                <a:solidFill>
                  <a:srgbClr val="14213D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特別分享・轉職故事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793431"/>
            <a:ext cx="9810750" cy="6679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060"/>
              </a:lnSpc>
              <a:buNone/>
            </a:pPr>
            <a:r>
              <a:rPr lang="en-US" sz="4400" b="1" dirty="0">
                <a:solidFill>
                  <a:srgbClr val="14213D"/>
                </a:solidFill>
                <a:latin typeface="Domine" pitchFamily="34" charset="0"/>
                <a:ea typeface="Domine" pitchFamily="34" charset="-122"/>
                <a:cs typeface="Domine" pitchFamily="34" charset="-120"/>
              </a:rPr>
              <a:t>為什麼我不想當老師了？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800" y="1690021"/>
            <a:ext cx="6200000" cy="1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臺師大數學系的畢業生，通常被期待走上教甄這條路。我後來選了不一樣的答案——那個轉彎，把我帶成了今天的工程師。</a:t>
            </a:r>
            <a:endParaRPr lang="en-US" sz="1600" dirty="0"/>
          </a:p>
        </p:txBody>
      </p:sp>
      <p:pic>
        <p:nvPicPr>
          <p:cNvPr id="61" name="Fork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7291651" y="1505316"/>
            <a:ext cx="4300000" cy="3847368"/>
          </a:xfrm>
          <a:prstGeom prst="rect">
            <a:avLst/>
          </a:prstGeom>
        </p:spPr>
      </p:pic>
      <p:pic>
        <p:nvPicPr>
          <p:cNvPr id="62" name="Photo"/>
          <p:cNvPicPr/>
          <p:nvPr/>
        </p:nvPicPr>
        <p:blipFill>
          <a:blip r:embed="rId4"/>
          <a:stretch>
            <a:fillRect/>
          </a:stretch>
        </p:blipFill>
        <p:spPr>
          <a:xfrm rot="-120000">
            <a:off x="853556" y="2653852"/>
            <a:ext cx="4800114" cy="2828254"/>
          </a:xfrm>
          <a:prstGeom prst="rect">
            <a:avLst/>
          </a:prstGeom>
          <a:effectLst>
            <a:outerShdw blurRad="101600" dist="50800" dir="5400000" algn="t" rotWithShape="0">
              <a:srgbClr val="000000">
                <a:alpha val="35000"/>
              </a:srgbClr>
            </a:outerShdw>
          </a:effectLst>
        </p:spPr>
      </p:pic>
      <p:sp>
        <p:nvSpPr>
          <p:cNvPr id="63" name="PhotoCap"/>
          <p:cNvSpPr txBox="1"/>
          <p:nvPr/>
        </p:nvSpPr>
        <p:spPr>
          <a:xfrm>
            <a:off x="1418175" y="5824569"/>
            <a:ext cx="4300000" cy="24000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500"/>
              </a:lnSpc>
              <a:buNone/>
            </a:pPr>
            <a:r>
              <a:rPr lang="zh-TW" sz="1600" dirty="0">
                <a:solidFill>
                  <a:srgbClr val="FBFBF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教育實習・建國中學｜全國高中數學教學研討會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213D"/>
                </a:solidFill>
                <a:latin typeface="Domine" pitchFamily="34" charset="0"/>
                <a:ea typeface="Domine" pitchFamily="34" charset="-122"/>
                <a:cs typeface="Domine" pitchFamily="34" charset="-120"/>
              </a:rPr>
              <a:t>代理老師的三年</a:t>
            </a:r>
            <a:endParaRPr lang="en-US" sz="3600" dirty="0"/>
          </a:p>
        </p:txBody>
      </p:sp>
      <p:sp>
        <p:nvSpPr>
          <p:cNvPr id="7" name="Card"/>
          <p:cNvSpPr/>
          <p:nvPr/>
        </p:nvSpPr>
        <p:spPr>
          <a:xfrm>
            <a:off x="812800" y="2730500"/>
            <a:ext cx="1687500" cy="147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Accent"/>
          <p:cNvSpPr/>
          <p:nvPr/>
        </p:nvSpPr>
        <p:spPr>
          <a:xfrm>
            <a:off x="812800" y="2730500"/>
            <a:ext cx="1687500" cy="25400"/>
          </a:xfrm>
          <a:prstGeom prst="rect">
            <a:avLst/>
          </a:prstGeom>
          <a:solidFill>
            <a:srgbClr val="2B7A7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Label"/>
          <p:cNvSpPr/>
          <p:nvPr/>
        </p:nvSpPr>
        <p:spPr>
          <a:xfrm>
            <a:off x="812800" y="2933700"/>
            <a:ext cx="16875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79"/>
              </a:lnSpc>
              <a:buNone/>
            </a:pPr>
            <a:r>
              <a:rPr lang="en-US" sz="1200" b="1" dirty="0">
                <a:solidFill>
                  <a:srgbClr val="2B7A78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教育實習</a:t>
            </a:r>
            <a:endParaRPr lang="en-US" sz="1200" dirty="0"/>
          </a:p>
        </p:txBody>
      </p:sp>
      <p:sp>
        <p:nvSpPr>
          <p:cNvPr id="10" name="Name"/>
          <p:cNvSpPr/>
          <p:nvPr/>
        </p:nvSpPr>
        <p:spPr>
          <a:xfrm>
            <a:off x="812800" y="3197860"/>
            <a:ext cx="1687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59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建國中學</a:t>
            </a:r>
            <a:endParaRPr lang="en-US" sz="1400" dirty="0"/>
          </a:p>
        </p:txBody>
      </p:sp>
      <p:pic>
        <p:nvPicPr>
          <p:cNvPr id="11" name="Badge"/>
          <p:cNvPicPr/>
          <p:nvPr/>
        </p:nvPicPr>
        <p:blipFill>
          <a:blip r:embed="rId3"/>
          <a:stretch>
            <a:fillRect/>
          </a:stretch>
        </p:blipFill>
        <p:spPr>
          <a:xfrm>
            <a:off x="1402550" y="3522980"/>
            <a:ext cx="508000" cy="497430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2650300" y="2730500"/>
            <a:ext cx="1687500" cy="147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Accent"/>
          <p:cNvSpPr/>
          <p:nvPr/>
        </p:nvSpPr>
        <p:spPr>
          <a:xfrm>
            <a:off x="2650300" y="2730500"/>
            <a:ext cx="1687500" cy="25400"/>
          </a:xfrm>
          <a:prstGeom prst="rect">
            <a:avLst/>
          </a:prstGeom>
          <a:solidFill>
            <a:srgbClr val="2B7A7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Label"/>
          <p:cNvSpPr/>
          <p:nvPr/>
        </p:nvSpPr>
        <p:spPr>
          <a:xfrm>
            <a:off x="2650300" y="2933700"/>
            <a:ext cx="16875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79"/>
              </a:lnSpc>
              <a:buNone/>
            </a:pPr>
            <a:r>
              <a:rPr lang="en-US" sz="1200" b="1" dirty="0">
                <a:solidFill>
                  <a:srgbClr val="2B7A78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代課老師</a:t>
            </a:r>
            <a:endParaRPr lang="en-US" sz="1200" dirty="0"/>
          </a:p>
        </p:txBody>
      </p:sp>
      <p:sp>
        <p:nvSpPr>
          <p:cNvPr id="15" name="Name"/>
          <p:cNvSpPr/>
          <p:nvPr/>
        </p:nvSpPr>
        <p:spPr>
          <a:xfrm>
            <a:off x="2650300" y="3197860"/>
            <a:ext cx="1687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59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松山工農</a:t>
            </a:r>
            <a:endParaRPr lang="en-US" sz="1400" dirty="0"/>
          </a:p>
        </p:txBody>
      </p:sp>
      <p:pic>
        <p:nvPicPr>
          <p:cNvPr id="16" name="Badge"/>
          <p:cNvPicPr/>
          <p:nvPr/>
        </p:nvPicPr>
        <p:blipFill>
          <a:blip r:embed="rId4"/>
          <a:stretch>
            <a:fillRect/>
          </a:stretch>
        </p:blipFill>
        <p:spPr>
          <a:xfrm>
            <a:off x="3240050" y="3522980"/>
            <a:ext cx="508000" cy="508000"/>
          </a:xfrm>
          <a:prstGeom prst="rect">
            <a:avLst/>
          </a:prstGeom>
        </p:spPr>
      </p:pic>
      <p:sp>
        <p:nvSpPr>
          <p:cNvPr id="17" name="Card"/>
          <p:cNvSpPr/>
          <p:nvPr/>
        </p:nvSpPr>
        <p:spPr>
          <a:xfrm>
            <a:off x="4487800" y="2730500"/>
            <a:ext cx="1687500" cy="147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Accent"/>
          <p:cNvSpPr/>
          <p:nvPr/>
        </p:nvSpPr>
        <p:spPr>
          <a:xfrm>
            <a:off x="4487800" y="2730500"/>
            <a:ext cx="1687500" cy="25400"/>
          </a:xfrm>
          <a:prstGeom prst="rect">
            <a:avLst/>
          </a:prstGeom>
          <a:solidFill>
            <a:srgbClr val="2B7A7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Label"/>
          <p:cNvSpPr/>
          <p:nvPr/>
        </p:nvSpPr>
        <p:spPr>
          <a:xfrm>
            <a:off x="4487800" y="2933700"/>
            <a:ext cx="16875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79"/>
              </a:lnSpc>
              <a:buNone/>
            </a:pPr>
            <a:r>
              <a:rPr lang="en-US" sz="1200" b="1" dirty="0">
                <a:solidFill>
                  <a:srgbClr val="2B7A78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代理老師</a:t>
            </a:r>
            <a:endParaRPr lang="en-US" sz="1200" dirty="0"/>
          </a:p>
        </p:txBody>
      </p:sp>
      <p:sp>
        <p:nvSpPr>
          <p:cNvPr id="20" name="Name"/>
          <p:cNvSpPr/>
          <p:nvPr/>
        </p:nvSpPr>
        <p:spPr>
          <a:xfrm>
            <a:off x="4487800" y="3197860"/>
            <a:ext cx="1687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59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明倫高中</a:t>
            </a:r>
            <a:endParaRPr lang="en-US" sz="1400" dirty="0"/>
          </a:p>
        </p:txBody>
      </p:sp>
      <p:pic>
        <p:nvPicPr>
          <p:cNvPr id="21" name="Badge"/>
          <p:cNvPicPr/>
          <p:nvPr/>
        </p:nvPicPr>
        <p:blipFill>
          <a:blip r:embed="rId5"/>
          <a:stretch>
            <a:fillRect/>
          </a:stretch>
        </p:blipFill>
        <p:spPr>
          <a:xfrm>
            <a:off x="5077550" y="3522980"/>
            <a:ext cx="508000" cy="472701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6325300" y="2730500"/>
            <a:ext cx="1687500" cy="147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Accent"/>
          <p:cNvSpPr/>
          <p:nvPr/>
        </p:nvSpPr>
        <p:spPr>
          <a:xfrm>
            <a:off x="6325300" y="2730500"/>
            <a:ext cx="1687500" cy="25400"/>
          </a:xfrm>
          <a:prstGeom prst="rect">
            <a:avLst/>
          </a:prstGeom>
          <a:solidFill>
            <a:srgbClr val="2B7A7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Label"/>
          <p:cNvSpPr/>
          <p:nvPr/>
        </p:nvSpPr>
        <p:spPr>
          <a:xfrm>
            <a:off x="6325300" y="2933700"/>
            <a:ext cx="16875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79"/>
              </a:lnSpc>
              <a:buNone/>
            </a:pPr>
            <a:r>
              <a:rPr lang="en-US" sz="1200" b="1" dirty="0">
                <a:solidFill>
                  <a:srgbClr val="2B7A78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代理老師</a:t>
            </a:r>
            <a:endParaRPr lang="en-US" sz="1200" dirty="0"/>
          </a:p>
        </p:txBody>
      </p:sp>
      <p:sp>
        <p:nvSpPr>
          <p:cNvPr id="25" name="Name"/>
          <p:cNvSpPr/>
          <p:nvPr/>
        </p:nvSpPr>
        <p:spPr>
          <a:xfrm>
            <a:off x="6325300" y="3197860"/>
            <a:ext cx="1687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59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復興高中</a:t>
            </a:r>
            <a:endParaRPr lang="en-US" sz="1400" dirty="0"/>
          </a:p>
        </p:txBody>
      </p:sp>
      <p:pic>
        <p:nvPicPr>
          <p:cNvPr id="26" name="Badge"/>
          <p:cNvPicPr/>
          <p:nvPr/>
        </p:nvPicPr>
        <p:blipFill>
          <a:blip r:embed="rId6"/>
          <a:stretch>
            <a:fillRect/>
          </a:stretch>
        </p:blipFill>
        <p:spPr>
          <a:xfrm>
            <a:off x="6915050" y="3522980"/>
            <a:ext cx="508000" cy="359611"/>
          </a:xfrm>
          <a:prstGeom prst="rect">
            <a:avLst/>
          </a:prstGeom>
        </p:spPr>
      </p:pic>
      <p:sp>
        <p:nvSpPr>
          <p:cNvPr id="6" name="Text 4"/>
          <p:cNvSpPr/>
          <p:nvPr/>
        </p:nvSpPr>
        <p:spPr>
          <a:xfrm>
            <a:off x="812800" y="576074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從第一志願到後段班，三年內，我在台灣高中光譜的兩端都站過講台——也看清了代理老師「一年一聘」的現實。</a:t>
            </a:r>
            <a:endParaRPr lang="en-US" sz="1600" dirty="0"/>
          </a:p>
        </p:txBody>
      </p:sp>
      <p:sp>
        <p:nvSpPr>
          <p:cNvPr id="62" name="TimelineLine"/>
          <p:cNvSpPr/>
          <p:nvPr/>
        </p:nvSpPr>
        <p:spPr>
          <a:xfrm>
            <a:off x="812800" y="2250000"/>
            <a:ext cx="7200000" cy="0"/>
          </a:xfrm>
          <a:prstGeom prst="line">
            <a:avLst/>
          </a:prstGeom>
          <a:noFill/>
          <a:ln w="19050">
            <a:solidFill>
              <a:srgbClr val="2B7A7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" name="Tick"/>
          <p:cNvSpPr/>
          <p:nvPr/>
        </p:nvSpPr>
        <p:spPr>
          <a:xfrm>
            <a:off x="812800" y="2160000"/>
            <a:ext cx="0" cy="180000"/>
          </a:xfrm>
          <a:prstGeom prst="line">
            <a:avLst/>
          </a:prstGeom>
          <a:noFill/>
          <a:ln w="19050">
            <a:solidFill>
              <a:srgbClr val="2B7A7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4" name="Tick"/>
          <p:cNvSpPr/>
          <p:nvPr/>
        </p:nvSpPr>
        <p:spPr>
          <a:xfrm>
            <a:off x="8012800" y="2160000"/>
            <a:ext cx="0" cy="180000"/>
          </a:xfrm>
          <a:prstGeom prst="line">
            <a:avLst/>
          </a:prstGeom>
          <a:noFill/>
          <a:ln w="19050">
            <a:solidFill>
              <a:srgbClr val="2B7A7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5" name="Dot"/>
          <p:cNvSpPr/>
          <p:nvPr/>
        </p:nvSpPr>
        <p:spPr>
          <a:xfrm>
            <a:off x="1586550" y="2180000"/>
            <a:ext cx="140000" cy="140000"/>
          </a:xfrm>
          <a:prstGeom prst="ellipse">
            <a:avLst/>
          </a:prstGeom>
          <a:solidFill>
            <a:srgbClr val="2B7A78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6" name="Dot"/>
          <p:cNvSpPr/>
          <p:nvPr/>
        </p:nvSpPr>
        <p:spPr>
          <a:xfrm>
            <a:off x="3424050" y="2180000"/>
            <a:ext cx="140000" cy="140000"/>
          </a:xfrm>
          <a:prstGeom prst="ellipse">
            <a:avLst/>
          </a:prstGeom>
          <a:solidFill>
            <a:srgbClr val="2B7A78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7" name="Dot"/>
          <p:cNvSpPr/>
          <p:nvPr/>
        </p:nvSpPr>
        <p:spPr>
          <a:xfrm>
            <a:off x="5261550" y="2180000"/>
            <a:ext cx="140000" cy="140000"/>
          </a:xfrm>
          <a:prstGeom prst="ellipse">
            <a:avLst/>
          </a:prstGeom>
          <a:solidFill>
            <a:srgbClr val="2B7A78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8" name="Dot"/>
          <p:cNvSpPr/>
          <p:nvPr/>
        </p:nvSpPr>
        <p:spPr>
          <a:xfrm>
            <a:off x="7099050" y="2180000"/>
            <a:ext cx="140000" cy="140000"/>
          </a:xfrm>
          <a:prstGeom prst="ellipse">
            <a:avLst/>
          </a:prstGeom>
          <a:solidFill>
            <a:srgbClr val="2B7A78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9" name="Pill"/>
          <p:cNvSpPr/>
          <p:nvPr/>
        </p:nvSpPr>
        <p:spPr>
          <a:xfrm>
            <a:off x="2962800" y="2100000"/>
            <a:ext cx="2900000" cy="300000"/>
          </a:xfrm>
          <a:prstGeom prst="roundRect">
            <a:avLst>
              <a:gd name="adj" fmla="val 50000"/>
            </a:avLst>
          </a:prstGeom>
          <a:solidFill>
            <a:srgbClr val="FBFBF8"/>
          </a:solidFill>
          <a:ln w="12700">
            <a:solidFill>
              <a:srgbClr val="2B7A7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" name="PillText"/>
          <p:cNvSpPr txBox="1"/>
          <p:nvPr/>
        </p:nvSpPr>
        <p:spPr>
          <a:xfrm>
            <a:off x="2962800" y="2100000"/>
            <a:ext cx="29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1800"/>
              </a:lnSpc>
              <a:buNone/>
            </a:pPr>
            <a:r>
              <a:rPr lang="zh-TW" sz="1400" b="1" spc="50" dirty="0">
                <a:solidFill>
                  <a:srgbClr val="2B7A7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三年 · 四所學校 · 一年一聘</a:t>
            </a:r>
            <a:endParaRPr lang="zh-TW" dirty="0"/>
          </a:p>
        </p:txBody>
      </p:sp>
      <p:sp>
        <p:nvSpPr>
          <p:cNvPr id="71" name="Spectrum"/>
          <p:cNvSpPr/>
          <p:nvPr/>
        </p:nvSpPr>
        <p:spPr>
          <a:xfrm>
            <a:off x="812800" y="4620000"/>
            <a:ext cx="7200000" cy="2000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B7A78"/>
              </a:gs>
              <a:gs pos="50000">
                <a:srgbClr val="F2C14E"/>
              </a:gs>
              <a:gs pos="100000">
                <a:srgbClr val="E07A5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Marker"/>
          <p:cNvSpPr/>
          <p:nvPr/>
        </p:nvSpPr>
        <p:spPr>
          <a:xfrm>
            <a:off x="1576550" y="4640000"/>
            <a:ext cx="160000" cy="16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4213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3" name="Marker"/>
          <p:cNvSpPr/>
          <p:nvPr/>
        </p:nvSpPr>
        <p:spPr>
          <a:xfrm>
            <a:off x="3414050" y="4640000"/>
            <a:ext cx="160000" cy="16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4213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4" name="Marker"/>
          <p:cNvSpPr/>
          <p:nvPr/>
        </p:nvSpPr>
        <p:spPr>
          <a:xfrm>
            <a:off x="5251550" y="4640000"/>
            <a:ext cx="160000" cy="16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4213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5" name="Marker"/>
          <p:cNvSpPr/>
          <p:nvPr/>
        </p:nvSpPr>
        <p:spPr>
          <a:xfrm>
            <a:off x="7089050" y="4640000"/>
            <a:ext cx="160000" cy="16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4213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6" name="SpecL"/>
          <p:cNvSpPr txBox="1"/>
          <p:nvPr/>
        </p:nvSpPr>
        <p:spPr>
          <a:xfrm>
            <a:off x="812800" y="4900000"/>
            <a:ext cx="300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4213D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第一志願</a:t>
            </a:r>
            <a:endParaRPr lang="zh-TW" dirty="0"/>
          </a:p>
        </p:txBody>
      </p:sp>
      <p:sp>
        <p:nvSpPr>
          <p:cNvPr id="77" name="SpecM"/>
          <p:cNvSpPr txBox="1"/>
          <p:nvPr/>
        </p:nvSpPr>
        <p:spPr>
          <a:xfrm>
            <a:off x="812800" y="4900000"/>
            <a:ext cx="720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zh-TW" sz="1200" spc="100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台灣高中光譜</a:t>
            </a:r>
            <a:endParaRPr lang="zh-TW" dirty="0"/>
          </a:p>
        </p:txBody>
      </p:sp>
      <p:sp>
        <p:nvSpPr>
          <p:cNvPr id="78" name="SpecR"/>
          <p:cNvSpPr txBox="1"/>
          <p:nvPr/>
        </p:nvSpPr>
        <p:spPr>
          <a:xfrm>
            <a:off x="5012800" y="4900000"/>
            <a:ext cx="300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500"/>
              </a:lnSpc>
              <a:buNone/>
            </a:pPr>
            <a:r>
              <a:rPr lang="zh-TW" sz="1400" b="1" dirty="0">
                <a:solidFill>
                  <a:srgbClr val="14213D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後段班</a:t>
            </a:r>
            <a:endParaRPr lang="zh-TW" dirty="0"/>
          </a:p>
        </p:txBody>
      </p:sp>
      <p:pic>
        <p:nvPicPr>
          <p:cNvPr id="79" name="PhotoStudents"/>
          <p:cNvPicPr/>
          <p:nvPr/>
        </p:nvPicPr>
        <p:blipFill>
          <a:blip r:embed="rId7"/>
          <a:stretch>
            <a:fillRect/>
          </a:stretch>
        </p:blipFill>
        <p:spPr>
          <a:xfrm rot="90000">
            <a:off x="8317925" y="1929045"/>
            <a:ext cx="3617315" cy="2617659"/>
          </a:xfrm>
          <a:prstGeom prst="rect">
            <a:avLst/>
          </a:prstGeom>
          <a:effectLst>
            <a:outerShdw blurRad="88900" dist="38100" dir="5400000" algn="t" rotWithShape="0">
              <a:srgbClr val="14213D">
                <a:alpha val="28000"/>
              </a:srgbClr>
            </a:outerShdw>
          </a:effectLst>
        </p:spPr>
      </p:pic>
      <p:sp>
        <p:nvSpPr>
          <p:cNvPr id="80" name="PhotoStudentsCap"/>
          <p:cNvSpPr txBox="1"/>
          <p:nvPr/>
        </p:nvSpPr>
        <p:spPr>
          <a:xfrm>
            <a:off x="8593482" y="4669700"/>
            <a:ext cx="3066200" cy="23000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zh-TW" sz="1200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代理老師時期・與學生合照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/>
        </p:nvSpPr>
        <p:spPr>
          <a:xfrm>
            <a:off x="812800" y="812800"/>
            <a:ext cx="762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79"/>
              </a:lnSpc>
              <a:buNone/>
            </a:pPr>
            <a:r>
              <a:rPr lang="en-US" sz="1200" b="1" dirty="0">
                <a:solidFill>
                  <a:srgbClr val="2B7A78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特別分享・轉職故事</a:t>
            </a:r>
            <a:endParaRPr lang="en-US" sz="1200" dirty="0"/>
          </a:p>
        </p:txBody>
      </p:sp>
      <p:sp>
        <p:nvSpPr>
          <p:cNvPr id="3" name="Title"/>
          <p:cNvSpPr/>
          <p:nvPr/>
        </p:nvSpPr>
        <p:spPr>
          <a:xfrm>
            <a:off x="812800" y="1500000"/>
            <a:ext cx="5887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3600" b="1" dirty="0">
                <a:solidFill>
                  <a:srgbClr val="14213D"/>
                </a:solidFill>
                <a:latin typeface="Domine" pitchFamily="34" charset="0"/>
                <a:ea typeface="Domine" pitchFamily="34" charset="-122"/>
                <a:cs typeface="Domine" pitchFamily="34" charset="-120"/>
              </a:rPr>
              <a:t>轉職的契機</a:t>
            </a:r>
            <a:endParaRPr lang="en-US" sz="3600" dirty="0"/>
          </a:p>
        </p:txBody>
      </p:sp>
      <p:sp>
        <p:nvSpPr>
          <p:cNvPr id="4" name="Body"/>
          <p:cNvSpPr/>
          <p:nvPr/>
        </p:nvSpPr>
        <p:spPr>
          <a:xfrm>
            <a:off x="812800" y="2300000"/>
            <a:ext cx="5887200" cy="95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離開教職後，我報名了資策會的 Big Data 巨量資料分析就業養成班——從數學老師，轉身學起程式。</a:t>
            </a:r>
            <a:endParaRPr lang="en-US" sz="1600" dirty="0"/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C71ADF70-EC43-0520-D9F2-896AFE1D6BB0}"/>
              </a:ext>
            </a:extLst>
          </p:cNvPr>
          <p:cNvGrpSpPr/>
          <p:nvPr/>
        </p:nvGrpSpPr>
        <p:grpSpPr>
          <a:xfrm>
            <a:off x="812800" y="3129259"/>
            <a:ext cx="4879553" cy="2915941"/>
            <a:chOff x="6950000" y="1500001"/>
            <a:chExt cx="4429000" cy="2646698"/>
          </a:xfrm>
        </p:grpSpPr>
        <p:sp>
          <p:nvSpPr>
            <p:cNvPr id="41" name="Card"/>
            <p:cNvSpPr/>
            <p:nvPr/>
          </p:nvSpPr>
          <p:spPr>
            <a:xfrm>
              <a:off x="6950000" y="1500001"/>
              <a:ext cx="4429000" cy="2646698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6350">
              <a:solidFill>
                <a:srgbClr val="E3E6E4"/>
              </a:solidFill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45" name="Diagram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7150000" y="2140000"/>
              <a:ext cx="4029000" cy="1846625"/>
            </a:xfrm>
            <a:prstGeom prst="rect">
              <a:avLst/>
            </a:prstGeom>
          </p:spPr>
        </p:pic>
        <p:sp>
          <p:nvSpPr>
            <p:cNvPr id="46" name="Name"/>
            <p:cNvSpPr txBox="1"/>
            <p:nvPr/>
          </p:nvSpPr>
          <p:spPr>
            <a:xfrm>
              <a:off x="7150000" y="1706800"/>
              <a:ext cx="4029000" cy="32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 fontScale="92500"/>
            </a:bodyPr>
            <a:lstStyle/>
            <a:p>
              <a:pPr marL="0" indent="0" algn="l">
                <a:lnSpc>
                  <a:spcPts val="2700"/>
                </a:lnSpc>
                <a:buNone/>
              </a:pPr>
              <a:r>
                <a:rPr lang="zh-TW" sz="1600" dirty="0">
                  <a:solidFill>
                    <a:srgbClr val="4A5568"/>
                  </a:solidFill>
                  <a:latin typeface="Rubik" pitchFamily="34" charset="0"/>
                  <a:ea typeface="Microsoft JhengHei" pitchFamily="34" charset="-120"/>
                  <a:cs typeface="Microsoft JhengHei" pitchFamily="34" charset="-120"/>
                </a:rPr>
                <a:t>我們這一組的專題：</a:t>
              </a:r>
              <a:r>
                <a:rPr lang="zh-TW" sz="2000" b="1" dirty="0">
                  <a:solidFill>
                    <a:srgbClr val="14213D"/>
                  </a:solidFill>
                  <a:latin typeface="Rubik" pitchFamily="34" charset="0"/>
                  <a:ea typeface="Microsoft JhengHei" pitchFamily="34" charset="-120"/>
                  <a:cs typeface="Microsoft JhengHei" pitchFamily="34" charset="-120"/>
                </a:rPr>
                <a:t>輿情分析系統</a:t>
              </a:r>
              <a:endParaRPr lang="zh-TW" dirty="0"/>
            </a:p>
          </p:txBody>
        </p:sp>
      </p:grpSp>
      <p:sp>
        <p:nvSpPr>
          <p:cNvPr id="10" name="Footer"/>
          <p:cNvSpPr/>
          <p:nvPr/>
        </p:nvSpPr>
        <p:spPr>
          <a:xfrm>
            <a:off x="812800" y="6250000"/>
            <a:ext cx="1056640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那是我從教育現場走向工程師的第一步。</a:t>
            </a:r>
            <a:endParaRPr lang="en-US" sz="1600" dirty="0"/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A19D7382-0746-3E06-DAC1-9148E49AD5C9}"/>
              </a:ext>
            </a:extLst>
          </p:cNvPr>
          <p:cNvGrpSpPr/>
          <p:nvPr/>
        </p:nvGrpSpPr>
        <p:grpSpPr>
          <a:xfrm>
            <a:off x="6878702" y="3656650"/>
            <a:ext cx="4058297" cy="3113116"/>
            <a:chOff x="712800" y="3650000"/>
            <a:chExt cx="2950000" cy="2262942"/>
          </a:xfrm>
        </p:grpSpPr>
        <p:pic>
          <p:nvPicPr>
            <p:cNvPr id="48" name="PhotoClass"/>
            <p:cNvPicPr/>
            <p:nvPr/>
          </p:nvPicPr>
          <p:blipFill>
            <a:blip r:embed="rId3"/>
            <a:stretch>
              <a:fillRect/>
            </a:stretch>
          </p:blipFill>
          <p:spPr>
            <a:xfrm rot="-90000">
              <a:off x="812800" y="3650000"/>
              <a:ext cx="2750000" cy="1922942"/>
            </a:xfrm>
            <a:prstGeom prst="rect">
              <a:avLst/>
            </a:prstGeom>
            <a:effectLst>
              <a:outerShdw blurRad="88900" dist="38100" dir="5400000" algn="t" rotWithShape="0">
                <a:srgbClr val="14213D">
                  <a:alpha val="28000"/>
                </a:srgbClr>
              </a:outerShdw>
            </a:effectLst>
          </p:spPr>
        </p:pic>
        <p:sp>
          <p:nvSpPr>
            <p:cNvPr id="49" name="PhotoClassCap"/>
            <p:cNvSpPr txBox="1"/>
            <p:nvPr/>
          </p:nvSpPr>
          <p:spPr>
            <a:xfrm>
              <a:off x="712800" y="5682942"/>
              <a:ext cx="2950000" cy="23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>
              <a:norm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zh-TW" sz="1600" dirty="0">
                  <a:solidFill>
                    <a:srgbClr val="4A5568"/>
                  </a:solidFill>
                  <a:latin typeface="Rubik" pitchFamily="34" charset="0"/>
                  <a:ea typeface="Microsoft JhengHei" pitchFamily="34" charset="-120"/>
                  <a:cs typeface="Microsoft JhengHei" pitchFamily="34" charset="-120"/>
                </a:rPr>
                <a:t>資策會的同學們</a:t>
              </a:r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2832BC79-16EA-7C2E-B425-C0B68AD8D99F}"/>
              </a:ext>
            </a:extLst>
          </p:cNvPr>
          <p:cNvGrpSpPr/>
          <p:nvPr/>
        </p:nvGrpSpPr>
        <p:grpSpPr>
          <a:xfrm>
            <a:off x="7488661" y="444810"/>
            <a:ext cx="4058298" cy="2719159"/>
            <a:chOff x="3850000" y="3838173"/>
            <a:chExt cx="2950000" cy="1976573"/>
          </a:xfrm>
        </p:grpSpPr>
        <p:pic>
          <p:nvPicPr>
            <p:cNvPr id="50" name="PhotoCert"/>
            <p:cNvPicPr/>
            <p:nvPr/>
          </p:nvPicPr>
          <p:blipFill>
            <a:blip r:embed="rId4"/>
            <a:stretch>
              <a:fillRect/>
            </a:stretch>
          </p:blipFill>
          <p:spPr>
            <a:xfrm rot="90000">
              <a:off x="3950000" y="3838173"/>
              <a:ext cx="2750000" cy="1546595"/>
            </a:xfrm>
            <a:prstGeom prst="rect">
              <a:avLst/>
            </a:prstGeom>
            <a:effectLst>
              <a:outerShdw blurRad="88900" dist="38100" dir="5400000" algn="t" rotWithShape="0">
                <a:srgbClr val="14213D">
                  <a:alpha val="28000"/>
                </a:srgbClr>
              </a:outerShdw>
            </a:effectLst>
          </p:spPr>
        </p:pic>
        <p:sp>
          <p:nvSpPr>
            <p:cNvPr id="51" name="PhotoCertCap"/>
            <p:cNvSpPr txBox="1"/>
            <p:nvPr/>
          </p:nvSpPr>
          <p:spPr>
            <a:xfrm>
              <a:off x="3850000" y="5584746"/>
              <a:ext cx="2950000" cy="23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>
              <a:norm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zh-TW" sz="1600" dirty="0">
                  <a:solidFill>
                    <a:srgbClr val="4A5568"/>
                  </a:solidFill>
                  <a:latin typeface="Rubik" pitchFamily="34" charset="0"/>
                  <a:ea typeface="Microsoft JhengHei" pitchFamily="34" charset="-120"/>
                  <a:cs typeface="Microsoft JhengHei" pitchFamily="34" charset="-120"/>
                </a:rPr>
                <a:t>就業養成班結訓典禮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213D"/>
                </a:solidFill>
                <a:latin typeface="Domine" pitchFamily="34" charset="0"/>
                <a:ea typeface="Domine" pitchFamily="34" charset="-122"/>
                <a:cs typeface="Domine" pitchFamily="34" charset="-120"/>
              </a:rPr>
              <a:t>現在的我－軟體工程師</a:t>
            </a:r>
            <a:endParaRPr lang="en-US" sz="3600" dirty="0"/>
          </a:p>
        </p:txBody>
      </p:sp>
      <p:sp>
        <p:nvSpPr>
          <p:cNvPr id="31" name="Card"/>
          <p:cNvSpPr/>
          <p:nvPr/>
        </p:nvSpPr>
        <p:spPr>
          <a:xfrm>
            <a:off x="812800" y="1600000"/>
            <a:ext cx="1775000" cy="27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6E4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32" name="Illustration"/>
          <p:cNvPicPr/>
          <p:nvPr/>
        </p:nvPicPr>
        <p:blipFill>
          <a:blip r:embed="rId3"/>
          <a:stretch>
            <a:fillRect/>
          </a:stretch>
        </p:blipFill>
        <p:spPr>
          <a:xfrm>
            <a:off x="922528" y="1709728"/>
            <a:ext cx="1555544" cy="972215"/>
          </a:xfrm>
          <a:prstGeom prst="rect">
            <a:avLst/>
          </a:prstGeom>
        </p:spPr>
      </p:pic>
      <p:sp>
        <p:nvSpPr>
          <p:cNvPr id="33" name="Name"/>
          <p:cNvSpPr txBox="1"/>
          <p:nvPr/>
        </p:nvSpPr>
        <p:spPr>
          <a:xfrm>
            <a:off x="922528" y="2801943"/>
            <a:ext cx="1555544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zh-TW" sz="1800" b="1" dirty="0">
                <a:solidFill>
                  <a:srgbClr val="14213D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前端</a:t>
            </a:r>
            <a:endParaRPr lang="zh-TW" dirty="0"/>
          </a:p>
        </p:txBody>
      </p:sp>
      <p:sp>
        <p:nvSpPr>
          <p:cNvPr id="34" name="Sub"/>
          <p:cNvSpPr txBox="1"/>
          <p:nvPr/>
        </p:nvSpPr>
        <p:spPr>
          <a:xfrm>
            <a:off x="922528" y="3101943"/>
            <a:ext cx="1555544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00" b="1" spc="100" dirty="0">
                <a:solidFill>
                  <a:srgbClr val="2B7A7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FRONTEND</a:t>
            </a:r>
            <a:endParaRPr lang="zh-TW" dirty="0"/>
          </a:p>
        </p:txBody>
      </p:sp>
      <p:sp>
        <p:nvSpPr>
          <p:cNvPr id="35" name="Desc"/>
          <p:cNvSpPr txBox="1"/>
          <p:nvPr/>
        </p:nvSpPr>
        <p:spPr>
          <a:xfrm>
            <a:off x="922528" y="3361943"/>
            <a:ext cx="1555544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zh-TW" sz="1100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把設計稿變成使用者看得到、點得到的網頁畫面。</a:t>
            </a:r>
            <a:endParaRPr lang="zh-TW" dirty="0"/>
          </a:p>
        </p:txBody>
      </p:sp>
      <p:sp>
        <p:nvSpPr>
          <p:cNvPr id="36" name="Card"/>
          <p:cNvSpPr/>
          <p:nvPr/>
        </p:nvSpPr>
        <p:spPr>
          <a:xfrm>
            <a:off x="2787800" y="1600000"/>
            <a:ext cx="1775000" cy="27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6E4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37" name="Illustration"/>
          <p:cNvPicPr/>
          <p:nvPr/>
        </p:nvPicPr>
        <p:blipFill>
          <a:blip r:embed="rId4"/>
          <a:stretch>
            <a:fillRect/>
          </a:stretch>
        </p:blipFill>
        <p:spPr>
          <a:xfrm>
            <a:off x="2897528" y="1709728"/>
            <a:ext cx="1555544" cy="972215"/>
          </a:xfrm>
          <a:prstGeom prst="rect">
            <a:avLst/>
          </a:prstGeom>
        </p:spPr>
      </p:pic>
      <p:sp>
        <p:nvSpPr>
          <p:cNvPr id="38" name="Name"/>
          <p:cNvSpPr txBox="1"/>
          <p:nvPr/>
        </p:nvSpPr>
        <p:spPr>
          <a:xfrm>
            <a:off x="2897528" y="2801943"/>
            <a:ext cx="1555544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zh-TW" sz="1800" b="1" dirty="0">
                <a:solidFill>
                  <a:srgbClr val="14213D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UI／UX</a:t>
            </a:r>
            <a:endParaRPr lang="zh-TW" dirty="0"/>
          </a:p>
        </p:txBody>
      </p:sp>
      <p:sp>
        <p:nvSpPr>
          <p:cNvPr id="39" name="Sub"/>
          <p:cNvSpPr txBox="1"/>
          <p:nvPr/>
        </p:nvSpPr>
        <p:spPr>
          <a:xfrm>
            <a:off x="2897528" y="3101943"/>
            <a:ext cx="1555544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00" b="1" spc="100" dirty="0">
                <a:solidFill>
                  <a:srgbClr val="2B7A7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DESIGN</a:t>
            </a:r>
            <a:endParaRPr lang="zh-TW" dirty="0"/>
          </a:p>
        </p:txBody>
      </p:sp>
      <p:sp>
        <p:nvSpPr>
          <p:cNvPr id="40" name="Desc"/>
          <p:cNvSpPr txBox="1"/>
          <p:nvPr/>
        </p:nvSpPr>
        <p:spPr>
          <a:xfrm>
            <a:off x="2897528" y="3361943"/>
            <a:ext cx="1555544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zh-TW" sz="1100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規劃介面長什麼樣、操作流程順不順手。</a:t>
            </a:r>
            <a:endParaRPr lang="zh-TW" dirty="0"/>
          </a:p>
        </p:txBody>
      </p:sp>
      <p:sp>
        <p:nvSpPr>
          <p:cNvPr id="41" name="Card"/>
          <p:cNvSpPr/>
          <p:nvPr/>
        </p:nvSpPr>
        <p:spPr>
          <a:xfrm>
            <a:off x="4762800" y="1600000"/>
            <a:ext cx="1775000" cy="27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6E4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42" name="Illustration"/>
          <p:cNvPicPr/>
          <p:nvPr/>
        </p:nvPicPr>
        <p:blipFill>
          <a:blip r:embed="rId5"/>
          <a:stretch>
            <a:fillRect/>
          </a:stretch>
        </p:blipFill>
        <p:spPr>
          <a:xfrm>
            <a:off x="4872528" y="1709728"/>
            <a:ext cx="1555544" cy="972215"/>
          </a:xfrm>
          <a:prstGeom prst="rect">
            <a:avLst/>
          </a:prstGeom>
        </p:spPr>
      </p:pic>
      <p:sp>
        <p:nvSpPr>
          <p:cNvPr id="43" name="Name"/>
          <p:cNvSpPr txBox="1"/>
          <p:nvPr/>
        </p:nvSpPr>
        <p:spPr>
          <a:xfrm>
            <a:off x="4872528" y="2801943"/>
            <a:ext cx="1555544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zh-TW" sz="1800" b="1" dirty="0">
                <a:solidFill>
                  <a:srgbClr val="14213D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後端</a:t>
            </a:r>
            <a:endParaRPr lang="zh-TW" dirty="0"/>
          </a:p>
        </p:txBody>
      </p:sp>
      <p:sp>
        <p:nvSpPr>
          <p:cNvPr id="44" name="Sub"/>
          <p:cNvSpPr txBox="1"/>
          <p:nvPr/>
        </p:nvSpPr>
        <p:spPr>
          <a:xfrm>
            <a:off x="4872528" y="3101943"/>
            <a:ext cx="1555544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00" b="1" spc="100" dirty="0">
                <a:solidFill>
                  <a:srgbClr val="2B7A7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BACKEND</a:t>
            </a:r>
            <a:endParaRPr lang="zh-TW" dirty="0"/>
          </a:p>
        </p:txBody>
      </p:sp>
      <p:sp>
        <p:nvSpPr>
          <p:cNvPr id="45" name="Desc"/>
          <p:cNvSpPr txBox="1"/>
          <p:nvPr/>
        </p:nvSpPr>
        <p:spPr>
          <a:xfrm>
            <a:off x="4872528" y="3361943"/>
            <a:ext cx="1555544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zh-TW" sz="1100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處理資料、API 與商業邏輯，讓畫面背後的功能真的能運作。</a:t>
            </a:r>
            <a:endParaRPr lang="zh-TW" dirty="0"/>
          </a:p>
        </p:txBody>
      </p:sp>
      <p:sp>
        <p:nvSpPr>
          <p:cNvPr id="46" name="Card"/>
          <p:cNvSpPr/>
          <p:nvPr/>
        </p:nvSpPr>
        <p:spPr>
          <a:xfrm>
            <a:off x="6737800" y="1600000"/>
            <a:ext cx="1775000" cy="27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3E6E4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47" name="Illustration"/>
          <p:cNvPicPr/>
          <p:nvPr/>
        </p:nvPicPr>
        <p:blipFill>
          <a:blip r:embed="rId6"/>
          <a:stretch>
            <a:fillRect/>
          </a:stretch>
        </p:blipFill>
        <p:spPr>
          <a:xfrm>
            <a:off x="6847528" y="1709728"/>
            <a:ext cx="1555544" cy="972215"/>
          </a:xfrm>
          <a:prstGeom prst="rect">
            <a:avLst/>
          </a:prstGeom>
        </p:spPr>
      </p:pic>
      <p:sp>
        <p:nvSpPr>
          <p:cNvPr id="48" name="Name"/>
          <p:cNvSpPr txBox="1"/>
          <p:nvPr/>
        </p:nvSpPr>
        <p:spPr>
          <a:xfrm>
            <a:off x="6847528" y="2801943"/>
            <a:ext cx="1555544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4213D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DevOps</a:t>
            </a:r>
            <a:endParaRPr lang="zh-TW" dirty="0"/>
          </a:p>
        </p:txBody>
      </p:sp>
      <p:sp>
        <p:nvSpPr>
          <p:cNvPr id="49" name="Sub"/>
          <p:cNvSpPr txBox="1"/>
          <p:nvPr/>
        </p:nvSpPr>
        <p:spPr>
          <a:xfrm>
            <a:off x="6847528" y="3101943"/>
            <a:ext cx="1555544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00" b="1" spc="100" dirty="0">
                <a:solidFill>
                  <a:srgbClr val="2B7A7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CLOUD</a:t>
            </a:r>
            <a:endParaRPr lang="zh-TW" dirty="0"/>
          </a:p>
        </p:txBody>
      </p:sp>
      <p:sp>
        <p:nvSpPr>
          <p:cNvPr id="50" name="Desc"/>
          <p:cNvSpPr txBox="1"/>
          <p:nvPr/>
        </p:nvSpPr>
        <p:spPr>
          <a:xfrm>
            <a:off x="6847528" y="3361943"/>
            <a:ext cx="1555544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zh-TW" sz="1100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把程式自動建置、部署到雲端，並監控系統穩定運行。</a:t>
            </a:r>
            <a:endParaRPr lang="zh-TW" dirty="0"/>
          </a:p>
        </p:txBody>
      </p:sp>
      <p:sp>
        <p:nvSpPr>
          <p:cNvPr id="51" name="Text 10"/>
          <p:cNvSpPr txBox="1"/>
          <p:nvPr/>
        </p:nvSpPr>
        <p:spPr>
          <a:xfrm>
            <a:off x="812800" y="4820000"/>
            <a:ext cx="77000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zh-TW" sz="1600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目前任職於聯和趨動股份有限公司，擔任 Back-end Developer。</a:t>
            </a:r>
            <a:endParaRPr lang="zh-TW" dirty="0"/>
          </a:p>
        </p:txBody>
      </p:sp>
      <p:pic>
        <p:nvPicPr>
          <p:cNvPr id="52" name="Pin"/>
          <p:cNvPicPr/>
          <p:nvPr/>
        </p:nvPicPr>
        <p:blipFill>
          <a:blip r:embed="rId7"/>
          <a:stretch>
            <a:fillRect/>
          </a:stretch>
        </p:blipFill>
        <p:spPr>
          <a:xfrm>
            <a:off x="812800" y="5190000"/>
            <a:ext cx="228600" cy="228600"/>
          </a:xfrm>
          <a:prstGeom prst="rect">
            <a:avLst/>
          </a:prstGeom>
        </p:spPr>
      </p:pic>
      <p:sp>
        <p:nvSpPr>
          <p:cNvPr id="53" name="Location"/>
          <p:cNvSpPr txBox="1"/>
          <p:nvPr/>
        </p:nvSpPr>
        <p:spPr>
          <a:xfrm>
            <a:off x="1121400" y="5180000"/>
            <a:ext cx="7391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zh-TW" sz="1600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公司坐落於 </a:t>
            </a:r>
            <a:r>
              <a:rPr lang="zh-TW" sz="1600" b="1" dirty="0">
                <a:solidFill>
                  <a:srgbClr val="2B7A7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高雄軟體園區</a:t>
            </a:r>
            <a:r>
              <a:rPr lang="zh-TW" sz="1600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，位於高雄市前鎮區。</a:t>
            </a:r>
            <a:endParaRPr lang="zh-TW" dirty="0"/>
          </a:p>
        </p:txBody>
      </p:sp>
      <p:pic>
        <p:nvPicPr>
          <p:cNvPr id="54" name="PhotoColleagues"/>
          <p:cNvPicPr/>
          <p:nvPr/>
        </p:nvPicPr>
        <p:blipFill>
          <a:blip r:embed="rId8"/>
          <a:stretch>
            <a:fillRect/>
          </a:stretch>
        </p:blipFill>
        <p:spPr>
          <a:xfrm rot="60000">
            <a:off x="8812800" y="1600000"/>
            <a:ext cx="2566200" cy="3191888"/>
          </a:xfrm>
          <a:prstGeom prst="rect">
            <a:avLst/>
          </a:prstGeom>
          <a:effectLst>
            <a:outerShdw blurRad="88900" dist="38100" dir="5400000" algn="t" rotWithShape="0">
              <a:srgbClr val="14213D">
                <a:alpha val="28000"/>
              </a:srgbClr>
            </a:outerShdw>
          </a:effectLst>
        </p:spPr>
      </p:pic>
      <p:sp>
        <p:nvSpPr>
          <p:cNvPr id="55" name="PhotoColleaguesCap"/>
          <p:cNvSpPr txBox="1"/>
          <p:nvPr/>
        </p:nvSpPr>
        <p:spPr>
          <a:xfrm>
            <a:off x="8712800" y="4911888"/>
            <a:ext cx="2766200" cy="23000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zh-TW" sz="1000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與同事的合照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900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213D"/>
                </a:solidFill>
                <a:latin typeface="Domine" pitchFamily="34" charset="0"/>
                <a:ea typeface="Domine" pitchFamily="34" charset="-122"/>
                <a:cs typeface="Domine" pitchFamily="34" charset="-120"/>
              </a:rPr>
              <a:t>從 AI 輔助開發，到全 AI 自主開發</a:t>
            </a:r>
            <a:endParaRPr lang="en-US" sz="3600" dirty="0"/>
          </a:p>
        </p:txBody>
      </p:sp>
      <p:sp>
        <p:nvSpPr>
          <p:cNvPr id="21" name="Eyebrow L"/>
          <p:cNvSpPr txBox="1"/>
          <p:nvPr/>
        </p:nvSpPr>
        <p:spPr>
          <a:xfrm>
            <a:off x="812800" y="1700000"/>
            <a:ext cx="390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79"/>
              </a:lnSpc>
              <a:buNone/>
            </a:pPr>
            <a:r>
              <a:rPr lang="zh-TW" sz="1200" b="1" spc="100" dirty="0">
                <a:solidFill>
                  <a:srgbClr val="2B7A7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天天在用的 AI 工具</a:t>
            </a:r>
            <a:endParaRPr lang="zh-TW" dirty="0"/>
          </a:p>
        </p:txBody>
      </p:sp>
      <p:pic>
        <p:nvPicPr>
          <p:cNvPr id="22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1250000" y="2600000"/>
            <a:ext cx="914400" cy="914400"/>
          </a:xfrm>
          <a:prstGeom prst="rect">
            <a:avLst/>
          </a:prstGeom>
        </p:spPr>
      </p:pic>
      <p:sp>
        <p:nvSpPr>
          <p:cNvPr id="23" name="Label"/>
          <p:cNvSpPr txBox="1"/>
          <p:nvPr/>
        </p:nvSpPr>
        <p:spPr>
          <a:xfrm>
            <a:off x="869000" y="3654400"/>
            <a:ext cx="167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800" b="1" dirty="0">
                <a:solidFill>
                  <a:srgbClr val="14213D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Claude Code</a:t>
            </a:r>
            <a:endParaRPr lang="zh-TW" dirty="0"/>
          </a:p>
        </p:txBody>
      </p:sp>
      <p:pic>
        <p:nvPicPr>
          <p:cNvPr id="24" name="Logo"/>
          <p:cNvPicPr/>
          <p:nvPr/>
        </p:nvPicPr>
        <p:blipFill>
          <a:blip r:embed="rId4"/>
          <a:stretch>
            <a:fillRect/>
          </a:stretch>
        </p:blipFill>
        <p:spPr>
          <a:xfrm>
            <a:off x="3050000" y="2600000"/>
            <a:ext cx="914400" cy="914400"/>
          </a:xfrm>
          <a:prstGeom prst="rect">
            <a:avLst/>
          </a:prstGeom>
        </p:spPr>
      </p:pic>
      <p:sp>
        <p:nvSpPr>
          <p:cNvPr id="25" name="Label"/>
          <p:cNvSpPr txBox="1"/>
          <p:nvPr/>
        </p:nvSpPr>
        <p:spPr>
          <a:xfrm>
            <a:off x="2669000" y="3654400"/>
            <a:ext cx="167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800" b="1" dirty="0">
                <a:solidFill>
                  <a:srgbClr val="14213D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Codex</a:t>
            </a:r>
            <a:endParaRPr lang="zh-TW" dirty="0"/>
          </a:p>
        </p:txBody>
      </p:sp>
      <p:sp>
        <p:nvSpPr>
          <p:cNvPr id="26" name="Eyebrow R"/>
          <p:cNvSpPr txBox="1"/>
          <p:nvPr/>
        </p:nvSpPr>
        <p:spPr>
          <a:xfrm>
            <a:off x="5400000" y="1700000"/>
            <a:ext cx="600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79"/>
              </a:lnSpc>
              <a:buNone/>
            </a:pPr>
            <a:r>
              <a:rPr lang="zh-TW" sz="1200" b="1" spc="100" dirty="0">
                <a:solidFill>
                  <a:srgbClr val="2B7A7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AI 工程演進：Prompt → Graph</a:t>
            </a:r>
            <a:endParaRPr lang="zh-TW" dirty="0"/>
          </a:p>
        </p:txBody>
      </p:sp>
      <p:sp>
        <p:nvSpPr>
          <p:cNvPr id="27" name="Step 1"/>
          <p:cNvSpPr/>
          <p:nvPr/>
        </p:nvSpPr>
        <p:spPr>
          <a:xfrm>
            <a:off x="5400000" y="3850000"/>
            <a:ext cx="1130000" cy="1050000"/>
          </a:xfrm>
          <a:prstGeom prst="roundRect">
            <a:avLst>
              <a:gd name="adj" fmla="val 8000"/>
            </a:avLst>
          </a:prstGeom>
          <a:solidFill>
            <a:srgbClr val="22C55E"/>
          </a:solidFill>
          <a:ln>
            <a:noFill/>
          </a:ln>
        </p:spPr>
        <p:txBody>
          <a:bodyPr wrap="square" lIns="91440" tIns="91440" rIns="91440" bIns="91440" rtlCol="0" anchor="t">
            <a:normAutofit/>
          </a:bodyPr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① Prompt</a:t>
            </a:r>
            <a:endParaRPr lang="zh-TW" dirty="0"/>
          </a:p>
          <a:p>
            <a:pPr marL="0" indent="0" algn="ctr">
              <a:lnSpc>
                <a:spcPts val="2000"/>
              </a:lnSpc>
              <a:spcBef>
                <a:spcPts val="300"/>
              </a:spcBef>
              <a:buNone/>
            </a:pPr>
            <a:r>
              <a:rPr lang="zh-TW" sz="1500" b="1" dirty="0">
                <a:solidFill>
                  <a:srgbClr val="FFFFFF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提示工程</a:t>
            </a:r>
            <a:endParaRPr lang="zh-TW" dirty="0"/>
          </a:p>
          <a:p>
            <a:pPr marL="0" indent="0" algn="ctr">
              <a:lnSpc>
                <a:spcPts val="1600"/>
              </a:lnSpc>
              <a:spcBef>
                <a:spcPts val="200"/>
              </a:spcBef>
              <a:buNone/>
            </a:pPr>
            <a:r>
              <a:rPr lang="zh-TW" sz="1200" dirty="0">
                <a:solidFill>
                  <a:srgbClr val="FFFFFF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管「字句」</a:t>
            </a:r>
            <a:endParaRPr lang="zh-TW" dirty="0"/>
          </a:p>
        </p:txBody>
      </p:sp>
      <p:sp>
        <p:nvSpPr>
          <p:cNvPr id="28" name="Step 2"/>
          <p:cNvSpPr/>
          <p:nvPr/>
        </p:nvSpPr>
        <p:spPr>
          <a:xfrm>
            <a:off x="6600000" y="3410000"/>
            <a:ext cx="1130000" cy="1490000"/>
          </a:xfrm>
          <a:prstGeom prst="roundRect">
            <a:avLst>
              <a:gd name="adj" fmla="val 8000"/>
            </a:avLst>
          </a:prstGeom>
          <a:solidFill>
            <a:srgbClr val="3B82F6"/>
          </a:solidFill>
          <a:ln>
            <a:noFill/>
          </a:ln>
        </p:spPr>
        <p:txBody>
          <a:bodyPr wrap="square" lIns="91440" tIns="91440" rIns="91440" bIns="91440" rtlCol="0" anchor="t">
            <a:normAutofit/>
          </a:bodyPr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② Context</a:t>
            </a:r>
            <a:endParaRPr lang="zh-TW" dirty="0"/>
          </a:p>
          <a:p>
            <a:pPr marL="0" indent="0" algn="ctr">
              <a:lnSpc>
                <a:spcPts val="2000"/>
              </a:lnSpc>
              <a:spcBef>
                <a:spcPts val="300"/>
              </a:spcBef>
              <a:buNone/>
            </a:pPr>
            <a:r>
              <a:rPr lang="zh-TW" sz="1500" b="1" dirty="0">
                <a:solidFill>
                  <a:srgbClr val="FFFFFF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脈絡工程</a:t>
            </a:r>
            <a:endParaRPr lang="zh-TW" dirty="0"/>
          </a:p>
          <a:p>
            <a:pPr marL="0" indent="0" algn="ctr">
              <a:lnSpc>
                <a:spcPts val="1600"/>
              </a:lnSpc>
              <a:spcBef>
                <a:spcPts val="200"/>
              </a:spcBef>
              <a:buNone/>
            </a:pPr>
            <a:r>
              <a:rPr lang="zh-TW" sz="1200" dirty="0">
                <a:solidFill>
                  <a:srgbClr val="FFFFFF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管「資訊」</a:t>
            </a:r>
            <a:endParaRPr lang="zh-TW" dirty="0"/>
          </a:p>
        </p:txBody>
      </p:sp>
      <p:sp>
        <p:nvSpPr>
          <p:cNvPr id="29" name="Step 3"/>
          <p:cNvSpPr/>
          <p:nvPr/>
        </p:nvSpPr>
        <p:spPr>
          <a:xfrm>
            <a:off x="7800000" y="2970000"/>
            <a:ext cx="1130000" cy="193000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txBody>
          <a:bodyPr wrap="square" lIns="91440" tIns="91440" rIns="91440" bIns="91440" rtlCol="0" anchor="t">
            <a:normAutofit/>
          </a:bodyPr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③ Harness</a:t>
            </a:r>
            <a:endParaRPr lang="zh-TW" dirty="0"/>
          </a:p>
          <a:p>
            <a:pPr marL="0" indent="0" algn="ctr">
              <a:lnSpc>
                <a:spcPts val="2000"/>
              </a:lnSpc>
              <a:spcBef>
                <a:spcPts val="300"/>
              </a:spcBef>
              <a:buNone/>
            </a:pPr>
            <a:r>
              <a:rPr lang="zh-TW" sz="1500" b="1" dirty="0">
                <a:solidFill>
                  <a:srgbClr val="FFFFFF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骨架工程</a:t>
            </a:r>
            <a:endParaRPr lang="zh-TW" dirty="0"/>
          </a:p>
          <a:p>
            <a:pPr marL="0" indent="0" algn="ctr">
              <a:lnSpc>
                <a:spcPts val="1600"/>
              </a:lnSpc>
              <a:spcBef>
                <a:spcPts val="200"/>
              </a:spcBef>
              <a:buNone/>
            </a:pPr>
            <a:r>
              <a:rPr lang="zh-TW" sz="1200" dirty="0">
                <a:solidFill>
                  <a:srgbClr val="FFFFFF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管「環境」</a:t>
            </a:r>
            <a:endParaRPr lang="zh-TW" dirty="0"/>
          </a:p>
        </p:txBody>
      </p:sp>
      <p:sp>
        <p:nvSpPr>
          <p:cNvPr id="30" name="Step 4"/>
          <p:cNvSpPr/>
          <p:nvPr/>
        </p:nvSpPr>
        <p:spPr>
          <a:xfrm>
            <a:off x="9000000" y="2530000"/>
            <a:ext cx="1130000" cy="23700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txBody>
          <a:bodyPr wrap="square" lIns="91440" tIns="91440" rIns="91440" bIns="91440" rtlCol="0" anchor="t">
            <a:normAutofit/>
          </a:bodyPr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④ Loop</a:t>
            </a:r>
            <a:endParaRPr lang="zh-TW" dirty="0"/>
          </a:p>
          <a:p>
            <a:pPr marL="0" indent="0" algn="ctr">
              <a:lnSpc>
                <a:spcPts val="2000"/>
              </a:lnSpc>
              <a:spcBef>
                <a:spcPts val="300"/>
              </a:spcBef>
              <a:buNone/>
            </a:pPr>
            <a:r>
              <a:rPr lang="zh-TW" sz="1500" b="1" dirty="0">
                <a:solidFill>
                  <a:srgbClr val="FFFFFF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迴圈工程</a:t>
            </a:r>
            <a:endParaRPr lang="zh-TW" dirty="0"/>
          </a:p>
          <a:p>
            <a:pPr marL="0" indent="0" algn="ctr">
              <a:lnSpc>
                <a:spcPts val="1600"/>
              </a:lnSpc>
              <a:spcBef>
                <a:spcPts val="200"/>
              </a:spcBef>
              <a:buNone/>
            </a:pPr>
            <a:r>
              <a:rPr lang="zh-TW" sz="1200" dirty="0">
                <a:solidFill>
                  <a:srgbClr val="FFFFFF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管「迴圈」</a:t>
            </a:r>
            <a:endParaRPr lang="zh-TW" dirty="0"/>
          </a:p>
        </p:txBody>
      </p:sp>
      <p:sp>
        <p:nvSpPr>
          <p:cNvPr id="31" name="Step 5"/>
          <p:cNvSpPr/>
          <p:nvPr/>
        </p:nvSpPr>
        <p:spPr>
          <a:xfrm>
            <a:off x="10200000" y="2090000"/>
            <a:ext cx="1130000" cy="2810000"/>
          </a:xfrm>
          <a:prstGeom prst="roundRect">
            <a:avLst>
              <a:gd name="adj" fmla="val 8000"/>
            </a:avLst>
          </a:prstGeom>
          <a:solidFill>
            <a:srgbClr val="DB2777"/>
          </a:solidFill>
          <a:ln>
            <a:noFill/>
          </a:ln>
        </p:spPr>
        <p:txBody>
          <a:bodyPr wrap="square" lIns="91440" tIns="91440" rIns="91440" bIns="91440" rtlCol="0" anchor="t">
            <a:normAutofit/>
          </a:bodyPr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⑤ Graph</a:t>
            </a:r>
            <a:endParaRPr lang="zh-TW" dirty="0"/>
          </a:p>
          <a:p>
            <a:pPr marL="0" indent="0" algn="ctr">
              <a:lnSpc>
                <a:spcPts val="2000"/>
              </a:lnSpc>
              <a:spcBef>
                <a:spcPts val="300"/>
              </a:spcBef>
              <a:buNone/>
            </a:pPr>
            <a:r>
              <a:rPr lang="zh-TW" sz="1500" b="1" dirty="0">
                <a:solidFill>
                  <a:srgbClr val="FFFFFF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圖工程</a:t>
            </a:r>
            <a:endParaRPr lang="zh-TW" dirty="0"/>
          </a:p>
          <a:p>
            <a:pPr marL="0" indent="0" algn="ctr">
              <a:lnSpc>
                <a:spcPts val="1600"/>
              </a:lnSpc>
              <a:spcBef>
                <a:spcPts val="200"/>
              </a:spcBef>
              <a:buNone/>
            </a:pPr>
            <a:r>
              <a:rPr lang="zh-TW" sz="1200" dirty="0">
                <a:solidFill>
                  <a:srgbClr val="FFFFFF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管「組織」</a:t>
            </a:r>
            <a:endParaRPr lang="zh-TW" dirty="0"/>
          </a:p>
        </p:txBody>
      </p:sp>
      <p:sp>
        <p:nvSpPr>
          <p:cNvPr id="32" name="Caption"/>
          <p:cNvSpPr txBox="1"/>
          <p:nvPr/>
        </p:nvSpPr>
        <p:spPr>
          <a:xfrm>
            <a:off x="5400000" y="4990000"/>
            <a:ext cx="60000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zh-TW" sz="1200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一層包一層：字句 → 資訊 → 環境 → 迴圈 → 組織，範圍越來越大、能力越來越強</a:t>
            </a:r>
            <a:endParaRPr lang="zh-TW" dirty="0"/>
          </a:p>
        </p:txBody>
      </p:sp>
      <p:sp>
        <p:nvSpPr>
          <p:cNvPr id="33" name="Text 12"/>
          <p:cNvSpPr txBox="1"/>
          <p:nvPr/>
        </p:nvSpPr>
        <p:spPr>
          <a:xfrm>
            <a:off x="812800" y="5420000"/>
            <a:ext cx="108839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zh-TW" sz="1500" b="1" dirty="0">
                <a:solidFill>
                  <a:srgbClr val="2B7A7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初期　</a:t>
            </a:r>
            <a:r>
              <a:rPr lang="zh-TW" sz="1500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覺得 AI 輔助寫程式很爛：找不到問題，也不知道該怎麼調整程式碼。</a:t>
            </a:r>
            <a:endParaRPr lang="zh-TW" dirty="0"/>
          </a:p>
          <a:p>
            <a:pPr marL="0" indent="0" algn="l">
              <a:lnSpc>
                <a:spcPts val="2400"/>
              </a:lnSpc>
              <a:spcBef>
                <a:spcPts val="300"/>
              </a:spcBef>
              <a:buNone/>
            </a:pPr>
            <a:r>
              <a:rPr lang="zh-TW" sz="1500" b="1" dirty="0">
                <a:solidFill>
                  <a:srgbClr val="2B7A7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中後期　</a:t>
            </a:r>
            <a:r>
              <a:rPr lang="zh-TW" sz="1500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進入半輔助開發：AI 能協助找出問題根因，由我決定怎麼改。</a:t>
            </a:r>
            <a:endParaRPr lang="zh-TW" dirty="0"/>
          </a:p>
          <a:p>
            <a:pPr marL="0" indent="0" algn="l">
              <a:lnSpc>
                <a:spcPts val="2400"/>
              </a:lnSpc>
              <a:spcBef>
                <a:spcPts val="300"/>
              </a:spcBef>
              <a:buNone/>
            </a:pPr>
            <a:r>
              <a:rPr lang="zh-TW" sz="1500" b="1" dirty="0">
                <a:solidFill>
                  <a:srgbClr val="2B7A7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現在　</a:t>
            </a:r>
            <a:r>
              <a:rPr lang="zh-TW" sz="1500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全自動開發：AI 擁有自己的大腦，能協助我完成開發與運維。</a:t>
            </a:r>
            <a:endParaRPr lang="zh-TW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812800" y="812800"/>
            <a:ext cx="6032500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62500" lnSpcReduction="20000"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3600" b="1" dirty="0">
                <a:solidFill>
                  <a:srgbClr val="14213D"/>
                </a:solidFill>
                <a:latin typeface="Domine" pitchFamily="34" charset="0"/>
                <a:ea typeface="Domine" pitchFamily="34" charset="-122"/>
                <a:cs typeface="Domine" pitchFamily="34" charset="-120"/>
              </a:rPr>
              <a:t>為什麼要回來念書？</a:t>
            </a:r>
            <a:endParaRPr lang="en-US" sz="3600" dirty="0"/>
          </a:p>
        </p:txBody>
      </p:sp>
      <p:sp>
        <p:nvSpPr>
          <p:cNvPr id="3" name="Body"/>
          <p:cNvSpPr/>
          <p:nvPr/>
        </p:nvSpPr>
        <p:spPr>
          <a:xfrm>
            <a:off x="812800" y="3143250"/>
            <a:ext cx="6032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000" dirty="0">
                <a:solidFill>
                  <a:srgbClr val="14213D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我會的技能，AI 幾乎都能做，而且做得比我好。這不是終點，而是提醒：工程師的價值正在往上移。所以我決定往前學，從會「用」AI，走到懂 AI 怎麼運作。</a:t>
            </a:r>
            <a:endParaRPr lang="en-US" sz="2000" dirty="0"/>
          </a:p>
        </p:txBody>
      </p:sp>
      <p:pic>
        <p:nvPicPr>
          <p:cNvPr id="4" name="Lab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7594600" y="1500000"/>
            <a:ext cx="3492500" cy="1894840"/>
          </a:xfrm>
          <a:prstGeom prst="rect">
            <a:avLst/>
          </a:prstGeom>
        </p:spPr>
      </p:pic>
      <p:sp>
        <p:nvSpPr>
          <p:cNvPr id="5" name="Footer"/>
          <p:cNvSpPr/>
          <p:nvPr/>
        </p:nvSpPr>
        <p:spPr>
          <a:xfrm>
            <a:off x="812800" y="5760720"/>
            <a:ext cx="60325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62500" lnSpcReduction="20000"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這個念頭，帶我走進了陽明交通大學應用科技碩士在職專班，加入李龍豪教授的自然語言處理實驗室。</a:t>
            </a:r>
            <a:endParaRPr lang="en-US" sz="1600" dirty="0"/>
          </a:p>
        </p:txBody>
      </p:sp>
      <p:pic>
        <p:nvPicPr>
          <p:cNvPr id="79" name="WhyDiagram"/>
          <p:cNvPicPr/>
          <p:nvPr/>
        </p:nvPicPr>
        <p:blipFill>
          <a:blip r:embed="rId4"/>
          <a:stretch>
            <a:fillRect/>
          </a:stretch>
        </p:blipFill>
        <p:spPr>
          <a:xfrm>
            <a:off x="7000000" y="3500000"/>
            <a:ext cx="4379000" cy="21238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LabelSuiteIcon"/>
          <p:cNvPicPr/>
          <p:nvPr/>
        </p:nvPicPr>
        <p:blipFill>
          <a:blip r:embed="rId3"/>
          <a:stretch>
            <a:fillRect/>
          </a:stretch>
        </p:blipFill>
        <p:spPr>
          <a:xfrm>
            <a:off x="812800" y="958850"/>
            <a:ext cx="508000" cy="5080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1473200" y="812800"/>
            <a:ext cx="10223500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3200" b="1" dirty="0">
                <a:solidFill>
                  <a:srgbClr val="14213D"/>
                </a:solidFill>
                <a:latin typeface="Domine" pitchFamily="34" charset="0"/>
                <a:ea typeface="Domine" pitchFamily="34" charset="-122"/>
                <a:cs typeface="Domine" pitchFamily="34" charset="-120"/>
              </a:rPr>
              <a:t>研究主題：Label Suite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473200" y="1356320"/>
            <a:ext cx="102235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2B7A78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 Config-Driven NLP Annotation Platform with Built-in Dataset Analytics・Demo Paper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目標應用領域：中文醫療健康・情緒心理分析</a:t>
            </a:r>
            <a:endParaRPr lang="en-US" sz="1400" dirty="0"/>
          </a:p>
        </p:txBody>
      </p:sp>
      <p:pic>
        <p:nvPicPr>
          <p:cNvPr id="80" name="Pipeline"/>
          <p:cNvPicPr/>
          <p:nvPr/>
        </p:nvPicPr>
        <p:blipFill>
          <a:blip r:embed="rId4"/>
          <a:stretch>
            <a:fillRect/>
          </a:stretch>
        </p:blipFill>
        <p:spPr>
          <a:xfrm>
            <a:off x="812800" y="3151500"/>
            <a:ext cx="10883392" cy="2063310"/>
          </a:xfrm>
          <a:prstGeom prst="rect">
            <a:avLst/>
          </a:prstGeom>
        </p:spPr>
      </p:pic>
      <p:sp>
        <p:nvSpPr>
          <p:cNvPr id="81" name="Contrast L"/>
          <p:cNvSpPr txBox="1"/>
          <p:nvPr/>
        </p:nvSpPr>
        <p:spPr>
          <a:xfrm>
            <a:off x="812800" y="2150000"/>
            <a:ext cx="500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ts val="2300"/>
              </a:lnSpc>
              <a:buNone/>
            </a:pPr>
            <a:r>
              <a:rPr lang="zh-TW" sz="1500" b="1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現況　</a:t>
            </a:r>
            <a:r>
              <a:rPr lang="zh-TW" sz="1500" dirty="0">
                <a:solidFill>
                  <a:srgbClr val="4A556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標記與分析工具各自為政，沒有品質視覺化</a:t>
            </a:r>
            <a:endParaRPr lang="zh-TW" dirty="0"/>
          </a:p>
        </p:txBody>
      </p:sp>
      <p:sp>
        <p:nvSpPr>
          <p:cNvPr id="82" name="Contrast Arrow"/>
          <p:cNvSpPr txBox="1"/>
          <p:nvPr/>
        </p:nvSpPr>
        <p:spPr>
          <a:xfrm>
            <a:off x="5812800" y="2150000"/>
            <a:ext cx="47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B7A7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→</a:t>
            </a:r>
            <a:endParaRPr lang="zh-TW" dirty="0"/>
          </a:p>
        </p:txBody>
      </p:sp>
      <p:sp>
        <p:nvSpPr>
          <p:cNvPr id="83" name="Contrast R"/>
          <p:cNvSpPr txBox="1"/>
          <p:nvPr/>
        </p:nvSpPr>
        <p:spPr>
          <a:xfrm>
            <a:off x="6282800" y="2150000"/>
            <a:ext cx="5096192" cy="420000"/>
          </a:xfrm>
          <a:prstGeom prst="rect">
            <a:avLst/>
          </a:prstGeom>
          <a:noFill/>
          <a:ln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2B7A78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Label Suite　</a:t>
            </a:r>
            <a:r>
              <a:rPr lang="zh-TW" sz="1500" dirty="0">
                <a:solidFill>
                  <a:srgbClr val="14213D"/>
                </a:solidFill>
                <a:latin typeface="Rubik" pitchFamily="34" charset="0"/>
                <a:ea typeface="Microsoft JhengHei" pitchFamily="34" charset="-120"/>
                <a:cs typeface="Microsoft JhengHei" pitchFamily="34" charset="-120"/>
              </a:rPr>
              <a:t>一份設定檔，配置・標記・分析一條龍</a:t>
            </a:r>
            <a:endParaRPr lang="zh-TW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QRCode"/>
          <p:cNvPicPr/>
          <p:nvPr/>
        </p:nvPicPr>
        <p:blipFill>
          <a:blip r:embed="rId3"/>
          <a:stretch>
            <a:fillRect/>
          </a:stretch>
        </p:blipFill>
        <p:spPr>
          <a:xfrm>
            <a:off x="5934321" y="1325880"/>
            <a:ext cx="3750960" cy="4206240"/>
          </a:xfrm>
          <a:prstGeom prst="roundRect">
            <a:avLst>
              <a:gd name="adj" fmla="val 5000"/>
            </a:avLst>
          </a:prstGeom>
        </p:spPr>
      </p:pic>
      <p:sp>
        <p:nvSpPr>
          <p:cNvPr id="2" name="Text 0"/>
          <p:cNvSpPr/>
          <p:nvPr/>
        </p:nvSpPr>
        <p:spPr>
          <a:xfrm>
            <a:off x="812800" y="2586980"/>
            <a:ext cx="5715000" cy="751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720"/>
              </a:lnSpc>
              <a:buNone/>
            </a:pPr>
            <a:r>
              <a:rPr lang="en-US" sz="5200" b="1" dirty="0">
                <a:solidFill>
                  <a:srgbClr val="FBFBF8"/>
                </a:solidFill>
                <a:latin typeface="Domine" pitchFamily="34" charset="0"/>
                <a:ea typeface="Domine" pitchFamily="34" charset="-122"/>
                <a:cs typeface="Domine" pitchFamily="34" charset="-120"/>
              </a:rPr>
              <a:t>謝謝聆聽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812800" y="3516610"/>
            <a:ext cx="57150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BFD8D5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期待大家的提問與建議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541</Words>
  <Application>Microsoft Macintosh PowerPoint</Application>
  <PresentationFormat>寬螢幕</PresentationFormat>
  <Paragraphs>111</Paragraphs>
  <Slides>10</Slides>
  <Notes>8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4" baseType="lpstr">
      <vt:lpstr>Domine</vt:lpstr>
      <vt:lpstr>Rubik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陳欣怡 論文研討自我介紹</dc:title>
  <dc:subject>PptxGenJS Presentation</dc:subject>
  <dc:creator>PptxGenJS</dc:creator>
  <cp:lastModifiedBy>陳欣怡</cp:lastModifiedBy>
  <cp:revision>27</cp:revision>
  <dcterms:created xsi:type="dcterms:W3CDTF">2026-09-17T11:43:25Z</dcterms:created>
  <dcterms:modified xsi:type="dcterms:W3CDTF">2026-10-02T12:30:44Z</dcterms:modified>
</cp:coreProperties>
</file>